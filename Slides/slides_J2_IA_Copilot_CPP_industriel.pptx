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A6A6"/>
                </a:solidFill>
              </a:rPr>
              <a:t>Support de cours • Slides J2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Synchronisation d’équipe, maintenabilité et réutilisation du code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07238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D7E2EA"/>
                </a:solidFill>
              </a:rPr>
              <a:t>AI Technical Sync • Interfaces stables • Maintenabilité • Copilot instructions • Reusable Candidate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3232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Objectif : utiliser l’IA pour rendre le travail collectif plus explicite, plus cohérent et plus vérifiable.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5669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A6A6"/>
                </a:solidFill>
              </a:rPr>
              <a:t>J2 • 7 h 30 • 09:00–17:30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Progression du J2 : du silo au composant partagé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653540" cy="45720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Silo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1653540" cy="120700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Comprendre pourquoi les bugs apparaissent aux frontières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284476" y="2587752"/>
            <a:ext cx="118872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458212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58212" y="1828800"/>
            <a:ext cx="1653540" cy="45720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AI Sync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458212" y="2395728"/>
            <a:ext cx="1653540" cy="12070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Rendre les changements visibles chaque semaine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148328" y="2587752"/>
            <a:ext cx="118872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322064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22064" y="1828800"/>
            <a:ext cx="1653540" cy="45720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Interfaces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22064" y="2395728"/>
            <a:ext cx="1653540" cy="120700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Stabiliser les contrats entrée / sortie / erreur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012180" y="2587752"/>
            <a:ext cx="118872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85916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85916" y="1828800"/>
            <a:ext cx="1653540" cy="45720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Maintenabilité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85916" y="2395728"/>
            <a:ext cx="1653540" cy="120700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Règles simples, tests, logs, timeouts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876032" y="2587752"/>
            <a:ext cx="118872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49768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9768" y="1828800"/>
            <a:ext cx="1653540" cy="45720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Copilot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49768" y="2395728"/>
            <a:ext cx="1653540" cy="120700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Donner des règles projet observables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9739884" y="2587752"/>
            <a:ext cx="118872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913620" y="1463040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13620" y="1828800"/>
            <a:ext cx="16535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Réutilisation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913620" y="2395728"/>
            <a:ext cx="165354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Extraire quand le besoin est confirmé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J2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1239499" cy="657225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Horaire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1714987" y="960120"/>
            <a:ext cx="2341276" cy="657225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4056263" y="960120"/>
            <a:ext cx="4407108" cy="657225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centrale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8463372" y="960120"/>
            <a:ext cx="3213516" cy="657225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75488" y="1617345"/>
            <a:ext cx="1239499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09:00–10:00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1714987" y="1617345"/>
            <a:ext cx="234127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en silo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056263" y="1617345"/>
            <a:ext cx="440710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l’intégration casse tard 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8463372" y="1617345"/>
            <a:ext cx="321351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de silo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75488" y="2274570"/>
            <a:ext cx="1239499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10:00–11:30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1714987" y="2274570"/>
            <a:ext cx="234127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Technical Sync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056263" y="2274570"/>
            <a:ext cx="440710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synchroniser sans réunion floue ?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463372" y="2274570"/>
            <a:ext cx="321351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synchronisation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475488" y="2931795"/>
            <a:ext cx="1239499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11:30–12:30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1714987" y="2931795"/>
            <a:ext cx="234127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 stables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4056263" y="2931795"/>
            <a:ext cx="440710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éviter les malentendus entre modules ?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463372" y="2931795"/>
            <a:ext cx="321351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entrée / sortie / erreur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75488" y="3589020"/>
            <a:ext cx="1239499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1714987" y="3589020"/>
            <a:ext cx="234127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Maintenabilité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056263" y="3589020"/>
            <a:ext cx="440710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rendre le code modifiable sans peur ?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463372" y="3589020"/>
            <a:ext cx="321351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et mini-revue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475488" y="4246245"/>
            <a:ext cx="1239499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1714987" y="4246245"/>
            <a:ext cx="234127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projet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056263" y="4246245"/>
            <a:ext cx="440710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guider les suggestions IA ?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8463372" y="4246245"/>
            <a:ext cx="321351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copilot-instructions.md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475488" y="4903470"/>
            <a:ext cx="1239499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15:30–16:45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1714987" y="4903470"/>
            <a:ext cx="234127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Réutilisation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056263" y="4903470"/>
            <a:ext cx="440710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extraire un composant partagé ?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463372" y="4903470"/>
            <a:ext cx="321351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réutilisable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75488" y="5560695"/>
            <a:ext cx="1239499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16:45–17:30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1714987" y="5560695"/>
            <a:ext cx="234127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Candidate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4056263" y="5560695"/>
            <a:ext cx="440710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décider, nommer, versionner, tester ?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8463372" y="5560695"/>
            <a:ext cx="321351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 + checklist</a:t>
            </a:r>
            <a:endParaRPr lang="en-US" sz="9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Principe de la journée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L’IA ne synchronise pas une équipe à sa place : elle rend visibles les zones à discuter.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Le progrès attendu n’est pas “plus de code”, mais moins de surprises à l’intégration.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Séquence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09:00–10:00 • Le problème du travail en silo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Comprendre pourquoi un code localement correct peut échouer dans le système complet.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Silo : simple à comprendre, coûteux à intégrer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Travail en silo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Chaque développeur avance surtout sur sa partie.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décisions locales restent invisibles.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interfaces évoluent sans coordination.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doublons et hypothèses implicites se multiplient.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Ce que l’on veut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Rendre les changements visibles.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Documenter les impacts importants.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Stabiliser les contrats entre modules.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Synchroniser avant l’intégration finale.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robot : quatre développeurs, quatre visions partielles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1836295" cy="105156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Développeur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11783" y="960120"/>
            <a:ext cx="2570813" cy="105156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2596" y="960120"/>
            <a:ext cx="6794292" cy="105156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si non synchronisé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183629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11783" y="2011680"/>
            <a:ext cx="257081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2596" y="2011680"/>
            <a:ext cx="67942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le sens de “blocked” sans prévenir la mission.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063240"/>
            <a:ext cx="183629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11783" y="3063240"/>
            <a:ext cx="257081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596" y="3063240"/>
            <a:ext cx="679429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 un état WaitingCharge que la supervision ne connaît pas.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114800"/>
            <a:ext cx="183629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11783" y="4114800"/>
            <a:ext cx="257081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596" y="4114800"/>
            <a:ext cx="67942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 “OK” quand la raison d’erreur est vide.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5166360"/>
            <a:ext cx="183629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11783" y="5166360"/>
            <a:ext cx="257081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82596" y="5166360"/>
            <a:ext cx="679429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Renomme un code capteur et casse les tests d’intégration.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Chaîne causale du silo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026310" cy="45720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Interfaces changent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2026310" cy="120700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Noms, types, états, erreurs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57246" y="2679192"/>
            <a:ext cx="1188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0982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0982" y="1920240"/>
            <a:ext cx="2026310" cy="45720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Doublons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30982" y="2487168"/>
            <a:ext cx="2026310" cy="120700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Même règle recopiée ailleurs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893869" y="2679192"/>
            <a:ext cx="1188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67605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67605" y="1920240"/>
            <a:ext cx="2026310" cy="457200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Intégration tardive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67605" y="2487168"/>
            <a:ext cx="2026310" cy="1207008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On assemble après avoir divergé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30491" y="2679192"/>
            <a:ext cx="1188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04227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04227" y="1920240"/>
            <a:ext cx="2026310" cy="45720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Bugs transverses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04227" y="2487168"/>
            <a:ext cx="2026310" cy="120700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Le problème traverse plusieurs modules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367114" y="2679192"/>
            <a:ext cx="1188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40850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40850" y="1920240"/>
            <a:ext cx="202631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Sprint fragilisé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40850" y="2487168"/>
            <a:ext cx="202631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Correction sous pression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Schéma : pourquoi le silo casse l’intégration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20574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00600" y="2423160"/>
            <a:ext cx="20574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0" y="2423160"/>
            <a:ext cx="20574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1828800" cy="1097280"/>
          </a:xfrm>
          <a:prstGeom prst="rect">
            <a:avLst/>
          </a:prstGeom>
          <a:solidFill>
            <a:srgbClr val="EAF3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Dev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Navigation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1828800" cy="1097280"/>
          </a:xfrm>
          <a:prstGeom prst="rect">
            <a:avLst/>
          </a:prstGeom>
          <a:solidFill>
            <a:srgbClr val="EAF7EA"/>
          </a:solidFill>
          <a:ln w="1524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Dev 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Mission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0" y="1874520"/>
            <a:ext cx="1828800" cy="1097280"/>
          </a:xfrm>
          <a:prstGeom prst="rect">
            <a:avLst/>
          </a:prstGeom>
          <a:solidFill>
            <a:srgbClr val="FFF3E6"/>
          </a:solidFill>
          <a:ln w="15240">
            <a:solidFill>
              <a:srgbClr val="F299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Dev 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Supervision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1828800" cy="1097280"/>
          </a:xfrm>
          <a:prstGeom prst="rect">
            <a:avLst/>
          </a:prstGeom>
          <a:solidFill>
            <a:srgbClr val="FDEAEA"/>
          </a:solidFill>
          <a:ln w="15240">
            <a:solidFill>
              <a:srgbClr val="C628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Intégration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tardive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033"/>
                </a:solidFill>
              </a:rPr>
              <a:t>Même vocabulaire apparent, mais contrats différents : états, erreurs, timeouts, unités, noms.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4709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77A"/>
                </a:solidFill>
              </a:rPr>
              <a:t>Le bug transverse apparaît à la frontière entre modules : chacun a “raison” localement, mais le système complet échoue.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 transverse : personne n’est seul responsable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Le module A peut respecter sa logique locale.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Le module B peut aussi respecter sa logique locale.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L’échec naît de l’hypothèse différente entre les deux.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La correction durable porte souvent sur le contrat, pas seulement sur une ligne de code.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L’IA peut aider à repérer les incohérences, mais elle ne connaît pas automatiquement la décision métier.</a:t>
            </a:r>
            <a:endParaRPr lang="en-US" sz="1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Exercice diagnostic : “ça marche chez moi”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Situation : la navigation renvoie FrontBlocked, la mission attend ObstacleDetected.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La supervision affiche “prêt” car elle ne connaît pas FrontBlocked.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Question 1 : où est le bug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Question 2 : quelle information aurait dû être synchronisée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Question 3 : quelle preuve demander avant de merger ?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: lire le problème comme un contrat cassé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938072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13560" y="960120"/>
            <a:ext cx="8263328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attendue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29380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Où est le bug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3560" y="2011680"/>
            <a:ext cx="826332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la frontière entre navigation, mission et supervision.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063240"/>
            <a:ext cx="293807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à synchroniser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3560" y="3063240"/>
            <a:ext cx="826332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liste officielle des états/erreurs et leur signification.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4114800"/>
            <a:ext cx="29380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avant merge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3560" y="4114800"/>
            <a:ext cx="826332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d’intégration ou test de contrat + note d’impact module.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5166360"/>
            <a:ext cx="293807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durable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3560" y="5166360"/>
            <a:ext cx="826332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Standardiser l’énumération et mettre à jour les consommateurs.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Séquence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10:00–11:30 • Process “AI Technical Sync”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Utiliser l’IA pour préparer la synchronisation, pas pour remplacer la discussion technique.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un process plutôt que “mieux communiquer”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Phrase floue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“Il faut mieux se parler.”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Aucun moment précis.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Aucun format de décision.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Aucune trace exploitable.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mêmes oublis reviennent.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Process observable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Un format court et répétable.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Des impacts écrits.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Des conflits recherchés explicitement.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Une décision visible.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Des preuves associées.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Technical Sync : vue d’ensemble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026310" cy="45720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Fiche impact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2026310" cy="12070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Décrire ce qui change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57246" y="2633472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0982" y="150876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0982" y="1874520"/>
            <a:ext cx="2026310" cy="45720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Résumé IA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30982" y="2441448"/>
            <a:ext cx="2026310" cy="120700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Faire reformuler les impacts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893869" y="2633472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67605" y="150876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67605" y="1874520"/>
            <a:ext cx="2026310" cy="45720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Conflits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67605" y="2441448"/>
            <a:ext cx="2026310" cy="120700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Lister états, types, noms, tests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30491" y="2633472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04227" y="150876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04227" y="1874520"/>
            <a:ext cx="2026310" cy="45720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Intégration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04227" y="2441448"/>
            <a:ext cx="2026310" cy="120700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Identifier consommateurs et preuves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367114" y="2633472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40850" y="150876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40850" y="1874520"/>
            <a:ext cx="202631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Synthèse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40850" y="2441448"/>
            <a:ext cx="202631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Conserver décision et actions</a:t>
            </a:r>
            <a:endParaRPr lang="en-US" sz="12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Fiche d’impact module : les champs essentiels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754443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29931" y="960120"/>
            <a:ext cx="8446957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à se poser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711234"/>
            <a:ext cx="275444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/ owner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29931" y="1711234"/>
            <a:ext cx="84469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porte la modification 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462349"/>
            <a:ext cx="275444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du changement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29931" y="2462349"/>
            <a:ext cx="84469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change-t-on 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213463"/>
            <a:ext cx="275444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 touchées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29931" y="3213463"/>
            <a:ext cx="84469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types, fonctions, états, erreurs changent 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964577"/>
            <a:ext cx="275444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Consommateurs impactés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29931" y="3964577"/>
            <a:ext cx="84469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appelle ce module ou lit ses données 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4715691"/>
            <a:ext cx="275444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29931" y="4715691"/>
            <a:ext cx="84469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Ancien code encore accepté ou rupture assumée 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5466806"/>
            <a:ext cx="275444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à exécuter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29931" y="5466806"/>
            <a:ext cx="84469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preuve avant PR ou merge ?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: résumé IA des changements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Tu es assistant de revue technique C++.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Résume le changement suivant pour une synchronisation d'équipe.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 juge pas encore le code.</a:t>
            </a:r>
            <a:endParaRPr lang="en-US" sz="1470" dirty="0"/>
          </a:p>
          <a:p>
            <a:pPr indent="0" marL="0">
              <a:buNone/>
            </a:pP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À produire :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1. modules impactés ;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2. interfaces modifiées ;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3. états / erreurs ajoutés ;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4. consommateurs possibles ;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5. tests d'intégration à prévoir ;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6. questions ouvertes.</a:t>
            </a:r>
            <a:endParaRPr lang="en-US" sz="1470" dirty="0"/>
          </a:p>
          <a:p>
            <a:pPr indent="0" marL="0">
              <a:buNone/>
            </a:pP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Contexte robot : navigation, mission, supervision, hardware.</a:t>
            </a:r>
            <a:endParaRPr lang="en-US" sz="14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bon résumé IA n’est pas une paraphrase ligne par ligne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5049811" cy="105156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Résumé faible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5525299" y="960120"/>
            <a:ext cx="6151589" cy="105156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Résumé utile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5049811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fonction check() vérifie des conditions.”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525299" y="2011680"/>
            <a:ext cx="615158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règle de démarrage ajoute la dépendance au capteur frontal.”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75488" y="3063240"/>
            <a:ext cx="5049811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“On ajoute une enum.”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5525299" y="3063240"/>
            <a:ext cx="615158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 nouvel état doit être compris par mission et supervision.”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75488" y="4114800"/>
            <a:ext cx="5049811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test a été modifié.”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525299" y="4114800"/>
            <a:ext cx="615158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cas FrontBlocked doit être testé à la frontière navigation/mission.”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75488" y="5166360"/>
            <a:ext cx="5049811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code compile.”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525299" y="5166360"/>
            <a:ext cx="615158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“Compilation OK, mais compatibilité des consommateurs non prouvée.”</a:t>
            </a:r>
            <a:endParaRPr lang="en-US" sz="10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Catégories de conflits à rechercher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1417320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Catégorie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1892808" y="960120"/>
            <a:ext cx="3749040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5641848" y="960120"/>
            <a:ext cx="6035040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utile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75488" y="1711234"/>
            <a:ext cx="14173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892808" y="1711234"/>
            <a:ext cx="3749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 vs Ready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641848" y="1711234"/>
            <a:ext cx="6035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vocabulaire est-il partagé ?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75488" y="2462349"/>
            <a:ext cx="14173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892808" y="2462349"/>
            <a:ext cx="3749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vs enum class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641848" y="2462349"/>
            <a:ext cx="6035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sens est-il porté par le type ?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75488" y="3213463"/>
            <a:ext cx="14173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892808" y="3213463"/>
            <a:ext cx="3749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vide vs raison explicite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41848" y="3213463"/>
            <a:ext cx="6035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diagnostiquer le refus ?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5488" y="3964577"/>
            <a:ext cx="14173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Unité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892808" y="3964577"/>
            <a:ext cx="3749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 vs 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41848" y="3964577"/>
            <a:ext cx="6035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contrat précise-t-il l’unité ?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75488" y="4715691"/>
            <a:ext cx="14173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892808" y="4715691"/>
            <a:ext cx="3749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implicite vs visible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641848" y="4715691"/>
            <a:ext cx="603504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 passe-t-il si le capteur ne répond pas ?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75488" y="5466806"/>
            <a:ext cx="14173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892808" y="5466806"/>
            <a:ext cx="3749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local seul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41848" y="5466806"/>
            <a:ext cx="603504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Existe-t-il un test de frontière ?</a:t>
            </a:r>
            <a:endParaRPr lang="en-US" sz="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Points d’intégration : ce qu’il faut rendre explicite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Qui appelle la fonction ou consomme la structure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Quels fichiers de configuration, logs ou tableaux de bord changent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 test prouve que deux modules se comprennent encore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 scénario robot doit être rejoué avant merge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Quelle décision doit être écrite : compatible, rupture, migration ou attente ?</a:t>
            </a:r>
            <a:endParaRPr lang="en-US" sz="19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automatique : brouillon, pas vérité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documentation générée doit être relue comme du code : elle peut être claire et fausse.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La trace de décision vient de l’équipe, pas de la fluidité du texte produit par l’IA.</a:t>
            </a:r>
            <a:endParaRPr lang="en-US" sz="1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hebdomadaire : cinq minutes pour éviter une journée de debug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2026310" cy="45720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Changements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026310" cy="12070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Qu’est-ce qui a bougé 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57246" y="2660904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0982" y="1536192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0982" y="1901952"/>
            <a:ext cx="2026310" cy="45720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Impacts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30982" y="2468880"/>
            <a:ext cx="2026310" cy="120700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Qui est concerné ?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893869" y="2660904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67605" y="1536192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67605" y="1901952"/>
            <a:ext cx="2026310" cy="45720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Risques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67605" y="2468880"/>
            <a:ext cx="2026310" cy="120700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Qu’est-ce qui peut casser ?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30491" y="2660904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04227" y="1536192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04227" y="1901952"/>
            <a:ext cx="2026310" cy="45720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Preuves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04227" y="2468880"/>
            <a:ext cx="2026310" cy="120700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Quels tests existent ?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367114" y="2660904"/>
            <a:ext cx="11887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40850" y="1536192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40850" y="1901952"/>
            <a:ext cx="202631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Décisions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40850" y="2468880"/>
            <a:ext cx="202631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Que fait-on maintenant ?</a:t>
            </a:r>
            <a:endParaRPr lang="en-US" sz="12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produire un plan de synchronisation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Ticket : “Ajouter un état LowBattery à la mission robot”.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Lister les modules impactés : mission, navigation, supervision, diagnostic, tests.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Remplir une fiche d’impact module.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Demander un résumé IA utile.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Terminer par trois décisions : test, documentation, point d’intégration.</a:t>
            </a:r>
            <a:endParaRPr lang="en-US" sz="18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guidée : plan de synchronisation minimal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295369" cy="8763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Élément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770857" y="960120"/>
            <a:ext cx="8906031" cy="8763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attendue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75488" y="1836420"/>
            <a:ext cx="229536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touchée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70857" y="1836420"/>
            <a:ext cx="89060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/ état mission : LowBattery.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5488" y="2712720"/>
            <a:ext cx="229536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Consommateurs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770857" y="2712720"/>
            <a:ext cx="890603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Supervision, diagnostic, logs, tests d’intégration.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75488" y="3589020"/>
            <a:ext cx="229536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Conflit possible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70857" y="3589020"/>
            <a:ext cx="89060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LowBattery peut être confondu avec CriticalBattery.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75488" y="4465320"/>
            <a:ext cx="229536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770857" y="4465320"/>
            <a:ext cx="890603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Scénario batterie basse + affichage supervision + log explicite.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75488" y="5341620"/>
            <a:ext cx="229536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770857" y="5341620"/>
            <a:ext cx="89060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seulement si état compris par les consommateurs principaux.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Séquence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11:30–12:30 • Standardiser les interfaces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Écrire des contrats que les modules peuvent comprendre sans deviner.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stable ≠ interface figée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Figée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On n’ose plus changer.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On garde les défauts historiques.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On contourne au lieu de clarifier.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règles restent implicites.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Stable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changements sont explicites.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La compatibilité est décidée.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erreurs sont nommées.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consommateurs savent quoi tester.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entrée / sortie / erreur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570813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du contrat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3046301" y="960120"/>
            <a:ext cx="4039849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robot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086150" y="960120"/>
            <a:ext cx="4590738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c’est utile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75488" y="1836420"/>
            <a:ext cx="257081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046301" y="1836420"/>
            <a:ext cx="403984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batterie, freins, capteur, mode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086150" y="1836420"/>
            <a:ext cx="459073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sait ce qui est nécessaire.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75488" y="2712720"/>
            <a:ext cx="257081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046301" y="2712720"/>
            <a:ext cx="403984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autorisé ou refusé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86150" y="2712720"/>
            <a:ext cx="459073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sait ce que la fonction décide.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75488" y="3589020"/>
            <a:ext cx="257081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/ raison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046301" y="3589020"/>
            <a:ext cx="403984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LowBattery, BrakesUnavailable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086150" y="3589020"/>
            <a:ext cx="459073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sait expliquer le refus.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75488" y="4465320"/>
            <a:ext cx="257081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Unités / bornes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046301" y="4465320"/>
            <a:ext cx="403984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20 %, timeout 500 ms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086150" y="4465320"/>
            <a:ext cx="459073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évite les valeurs cachées.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75488" y="5341620"/>
            <a:ext cx="257081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046301" y="5341620"/>
            <a:ext cx="403984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borne 20, capteur absent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086150" y="5341620"/>
            <a:ext cx="459073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protège le contrat.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: enum class plutôt que nombres magiques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09960" cy="384048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Fragile : que signifie 2 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 reason = 2;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Mieux : le type porte le sens.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enum class RefusalReason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None,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LowBattery,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BrakesUnavailable,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FrontSensorUnavailable,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CriticalError,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NotIdle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: struct de résultat plutôt qu’un bool ambigu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11109960" cy="31089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struct MotionDecision {</a:t>
            </a: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allowed;</a:t>
            </a: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RefusalReason reason;</a:t>
            </a: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820" dirty="0"/>
          </a:p>
          <a:p>
            <a:pPr indent="0" marL="0">
              <a:buNone/>
            </a:pP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false ne suffit pas : pourquoi le robot refuse-t-il ?</a:t>
            </a:r>
            <a:endParaRPr lang="en-US" sz="1820" dirty="0"/>
          </a:p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La raison permet le diagnostic, les tests et la supervision.</a:t>
            </a:r>
            <a:endParaRPr lang="en-US" sz="18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Séparer hardware, métier et supervision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100584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18120" y="2788920"/>
            <a:ext cx="100584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2377440" cy="502920"/>
          </a:xfrm>
          <a:prstGeom prst="rect">
            <a:avLst/>
          </a:prstGeom>
          <a:solidFill>
            <a:srgbClr val="EAF3FF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80ED"/>
                </a:solidFill>
              </a:rPr>
              <a:t>Hardware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377440" cy="73152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lit les capteurs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freins, batterie, lidar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965960"/>
            <a:ext cx="2834640" cy="502920"/>
          </a:xfrm>
          <a:prstGeom prst="rect">
            <a:avLst/>
          </a:prstGeom>
          <a:solidFill>
            <a:srgbClr val="EAF7EA"/>
          </a:solidFill>
          <a:ln>
            <a:solidFill>
              <a:srgbClr val="2E7D3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</a:rPr>
              <a:t>Métier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834640" cy="73152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décide selon les règles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peut-il démarrer 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06840" y="1965960"/>
            <a:ext cx="2377440" cy="502920"/>
          </a:xfrm>
          <a:prstGeom prst="rect">
            <a:avLst/>
          </a:prstGeom>
          <a:solidFill>
            <a:srgbClr val="FFF3E6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994A"/>
                </a:solidFill>
              </a:rPr>
              <a:t>Supervision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006840" y="2606040"/>
            <a:ext cx="2377440" cy="73152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affiche et trace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52033"/>
                </a:solidFill>
              </a:rPr>
              <a:t>statut, raison, log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Règle : le code métier ne doit pas dépendre directement de détails matériels ou d’affichage.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C++ : contrat explicite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enum class RobotMode { Idle, Moving, Charging };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enum class RefusalReason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None,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LowBattery,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BrakesUnavailable,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FrontSensorUnavailable,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CriticalError,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NotIdle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struct RobotStatus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int batteryPercent;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brakesAvailable;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frontSensorAvailable;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criticalError;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RobotMode mode;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struct MotionDecision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allowed;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RefusalReason reason;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0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C++ : décider sans deviner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MotionDecision canStartMission(const RobotStatus&amp; status)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(status.batteryPercent &lt; 20)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{false, RefusalReason::LowBattery};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(!status.brakesAvailable)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{false, RefusalReason::BrakesUnavailable};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(!status.frontSensorAvailable)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{false, RefusalReason::FrontSensorUnavailable};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(status.criticalError)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{false, RefusalReason::CriticalError};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(status.mode != RobotMode::Idle)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{false, RefusalReason::NotIdle};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{true, RefusalReason::None};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minute : lire le contrat avant l’implémentation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Sans lire le corps de la fonction, répondre :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1. quelles informations sont nécessaires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2. quelle décision est produite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3. comment expliquer un refus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4. quels tests de borne faut-il écrire 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5. quel module peut afficher la raison ?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Séquence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13:30–14:30 • Définir les règles de maintenabilité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Rendre le code modifiable, relisible et testable sans casser le système.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Maintenabilité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question n’est pas “ce code est-il beau ?” mais “peut-on le modifier sans peur ?”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Une règle maintenable est lisible, localisable, testée et explicable.</a:t>
            </a:r>
            <a:endParaRPr lang="en-US" sz="1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huit règles de maintenabilité du J2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846257" cy="5842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321745" y="960120"/>
            <a:ext cx="8355143" cy="5842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 simple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75488" y="1544320"/>
            <a:ext cx="2846257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 unique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321745" y="1544320"/>
            <a:ext cx="8355143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morceau de code doit avoir une raison principale de changer.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5488" y="2128520"/>
            <a:ext cx="2846257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couplage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321745" y="2128520"/>
            <a:ext cx="8355143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Limiter ce qu’un module connaît des autres.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5488" y="2712720"/>
            <a:ext cx="2846257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 cohésion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321745" y="2712720"/>
            <a:ext cx="8355143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Regrouper ce qui travaille vraiment ensemble.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5488" y="3296920"/>
            <a:ext cx="2846257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simple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321745" y="3296920"/>
            <a:ext cx="8355143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paramètres ambigus et les booléens mystère.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75488" y="3881120"/>
            <a:ext cx="2846257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courte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321745" y="3881120"/>
            <a:ext cx="8355143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les décisions, pas répéter le code.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75488" y="4465320"/>
            <a:ext cx="2846257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métier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321745" y="4465320"/>
            <a:ext cx="8355143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Protéger les règles importantes.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75488" y="5049520"/>
            <a:ext cx="2846257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utiles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321745" y="5049520"/>
            <a:ext cx="8355143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Tracer ce qui aide le diagnostic.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75488" y="5633720"/>
            <a:ext cx="2846257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Timeouts visibles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321745" y="5633720"/>
            <a:ext cx="8355143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laisser les attentes critiques implicites.</a:t>
            </a:r>
            <a:endParaRPr lang="en-US" sz="9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Responsabilité unique : fragile puis mieux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Fragile : décision métier + affichage + log dans la même fonction.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bool startRobotAndPrint(const RobotStatus&amp; s) {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(s.batteryPercent &lt; 20) {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std::cout &lt;&lt; "LOW BATTERY" &lt;&lt; std::endl;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false;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std::cout &lt;&lt; "START" &lt;&lt; std::endl;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true;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Mieux : une fonction décide, une autre affiche ou journalise.</a:t>
            </a:r>
            <a:endParaRPr lang="en-US" sz="12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Couplage faible et cohésion forte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Couplage faible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Un module connaît peu de détails internes des autres.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Il dépend d’un contrat explicite.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Un changement local casse moins de code.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tests sont plus ciblés.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Cohésion forte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fonctions d’un module travaillent autour du même sujet.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La logique métier est regroupée.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 code est plus facile à nommer.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responsabilités deviennent lisibles.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simple : éviter les booléens ambigus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Fragile : true signifie quoi ? simulation ? urgent ? safety ?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startMission(true, false, true);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Mieux : nommer l'intention dans un type ou une structure.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struct StartOptions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dryRun;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requireOperatorApproval;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emitDiagnosticLog;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startMission(StartOptions{true, false, true});</a:t>
            </a:r>
            <a:endParaRPr lang="en-US" sz="13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Documentation, tests, logs, timeouts : quatre preuves pratiques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1928110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Élément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03598" y="960120"/>
            <a:ext cx="4039849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 réflexe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3447" y="960120"/>
            <a:ext cx="5233441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192811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03598" y="2011680"/>
            <a:ext cx="403984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Commenter chaque ligne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3447" y="2011680"/>
            <a:ext cx="5233441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la règle métier et la borne.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063240"/>
            <a:ext cx="192811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03598" y="3063240"/>
            <a:ext cx="403984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seulement le cas qui marche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3447" y="3063240"/>
            <a:ext cx="5233441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refus, bornes, erreurs, états.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114800"/>
            <a:ext cx="192811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03598" y="4114800"/>
            <a:ext cx="403984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Afficher “error”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3447" y="4114800"/>
            <a:ext cx="5233441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Tracer module, raison, valeur utile.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5166360"/>
            <a:ext cx="192811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03598" y="5166360"/>
            <a:ext cx="403984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Attente cachée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3447" y="5166360"/>
            <a:ext cx="5233441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la durée et tester l’échec.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Mini-revue de maintenabilité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La fonction a-t-elle une responsabilité principale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Les entrées et sorties sont-elles lisibles sans deviner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Les erreurs importantes sont-elles nommées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Les règles métier sont-elles protégées par des tests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Un log permet-il de comprendre un refus en production ? 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Les timeouts sont-ils visibles et justifiés ?</a:t>
            </a:r>
            <a:endParaRPr lang="en-US" sz="19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Séquence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14:30–15:30 • Configurer Copilot avec les règles du projet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Réduire les suggestions hors contexte grâce à des consignes projet concrètes.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des instructions de dépôt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Sans consignes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Copilot devine le style du projet.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Il peut proposer des dépendances non souhaitées.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Il ignore les règles de safety locales.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Il peut générer des exemples séduisants mais incompatibles.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</a:rPr>
              <a:t>Avec consignes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contraintes importantes sont rappelées.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règles de C++ et tests sont explicites.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La sécurité est formulée en interdits clairs.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revues humaines restent obligatoires.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conseillée pour `.github/copilot-instructions.md`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938072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3413560" y="960120"/>
            <a:ext cx="8263328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475488" y="1711234"/>
            <a:ext cx="293807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système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3413560" y="1711234"/>
            <a:ext cx="826332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porte-palette, contraintes industrielles.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475488" y="2462349"/>
            <a:ext cx="293807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C++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413560" y="2462349"/>
            <a:ext cx="826332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Lisibilité, types explicites, pas de nombres magiques.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75488" y="3213463"/>
            <a:ext cx="293807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safety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3413560" y="3213463"/>
            <a:ext cx="826332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générer de décision critique sans tests et validation.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75488" y="3964577"/>
            <a:ext cx="293807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413560" y="3964577"/>
            <a:ext cx="826332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hardware, métier, supervision.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75488" y="4715691"/>
            <a:ext cx="293807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3413560" y="4715691"/>
            <a:ext cx="826332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Inclure cas limites, refus, erreurs, régression.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475488" y="5466806"/>
            <a:ext cx="293807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Licences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413560" y="5466806"/>
            <a:ext cx="826332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ajouter de dépendance non validée.</a:t>
            </a:r>
            <a:endParaRPr lang="en-US" sz="10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Extrait `.github/copilot-instructions.md`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Instructions Copilot du projet robot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Contexte : logiciel C++ pour robot porte-palette.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Les suggestions IA sont des propositions, jamais des validations.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Règles générales 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privilégier les types explicites 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éviter les nombres magiques 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nommer les raisons de refus 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séparer logique métier, hardware et supervision 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ne pas ajouter de dépendance sans validation 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proposer les tests avec le code généré.</a:t>
            </a:r>
            <a:endParaRPr lang="en-US" sz="13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Instructions sécurité et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Règles safety :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ne jamais masquer un état d'erreur critique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ne jamais convertir une erreur inconnue en succès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toute décision de mouvement doit fournir une raison explicite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les cas limites doivent être testés.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Architecture :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le hardware lit les capteurs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le métier décide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la supervision affiche et trace 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éviter les dépendances directes inutiles entre couches.</a:t>
            </a:r>
            <a:endParaRPr lang="en-US" sz="13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testables plutôt que décoratives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3856220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décorative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4331708" y="960120"/>
            <a:ext cx="7345180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exploitable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38562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du bon code.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4331708" y="2011680"/>
            <a:ext cx="73451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nombres magiques : toute borne métier doit être nommée.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75488" y="3063240"/>
            <a:ext cx="385622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attention à la sécurité.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4331708" y="3063240"/>
            <a:ext cx="734518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jamais transformer une erreur inconnue en succès.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75488" y="4114800"/>
            <a:ext cx="38562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des tests.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4331708" y="4114800"/>
            <a:ext cx="73451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succès, refus, borne et erreur critique.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75488" y="5166360"/>
            <a:ext cx="385622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Respecter l’architecture.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4331708" y="5166360"/>
            <a:ext cx="734518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couche métier ne lit pas directement les capteurs matériels.</a:t>
            </a:r>
            <a:endParaRPr lang="en-US" sz="107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première version du fichier Copilot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Écrire 8 à 12 règles courtes pour le dépôt.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Inclure au moins une règle C++, une règle safety, une règle architecture, une règle test, une règle licence.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Transformer chaque phrase floue en critère observable.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Relire : Copilot peut-il appliquer la règle dans une suggestion de code ?</a:t>
            </a:r>
            <a:endParaRPr lang="en-US" sz="19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Critères de correction du fichier Copilot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478998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2954486" y="960120"/>
            <a:ext cx="8722402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Attendu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75488" y="1711234"/>
            <a:ext cx="247899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Clarté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2954486" y="1711234"/>
            <a:ext cx="87224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règle = une idée vérifiable.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75488" y="2462349"/>
            <a:ext cx="247899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2954486" y="2462349"/>
            <a:ext cx="87224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adaptées au robot porte-palette.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75488" y="3213463"/>
            <a:ext cx="247899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2954486" y="3213463"/>
            <a:ext cx="87224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explicites, enum class, pas de constantes cachées.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75488" y="3964577"/>
            <a:ext cx="247899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2954486" y="3964577"/>
            <a:ext cx="87224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décision critique sans raison et test.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475488" y="4715691"/>
            <a:ext cx="247899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2954486" y="4715691"/>
            <a:ext cx="87224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Séparation hardware / métier / supervision.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75488" y="5466806"/>
            <a:ext cx="247899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Licences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2954486" y="5466806"/>
            <a:ext cx="87224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dépendance sans validation.</a:t>
            </a:r>
            <a:endParaRPr lang="en-US" sz="107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Séquence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15:30–16:45 • Réutilisation du code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Extraire ce qui est stable et utile, sans créer une abstraction prématurée.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Tous les doublons ne méritent pas une abstraction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</a:rPr>
              <a:t>Doublon acceptable temporaire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166360" cy="445312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Deux usages ressemblent en surface.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La règle métier n’est pas encore stabilisée.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modules évoluent dans des directions différentes.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Extraire maintenant figerait une mauvaise idée.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Extraction utile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581912"/>
            <a:ext cx="5166360" cy="445312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La même règle est recopiée plusieurs fois.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consommateurs ont le même besoin réel.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Les tests peuvent protéger la règle.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Le composant a un contrat clair.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: règle batterie dupliquée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Module mission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bool missionCanStart(int battery)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battery &gt;= 20;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Module supervision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std::string batteryLabel(int battery)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(battery &lt; 20) return "LOW";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"OK";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Risque : le seuil 20 est recopié et changera peut-être à un seul endroit.</a:t>
            </a:r>
            <a:endParaRPr lang="en-US" sz="13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Mieux : extraire une politique métier nommée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constexpr int MIN_BATTERY_TO_START_PERCENT = 20;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bool hasEnoughBatteryToStart(int batteryPercent) {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batteryPercent &gt;= MIN_BATTERY_TO_START_PERCENT;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Le seuil est nommé.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La règle peut être testée.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Les modules réutilisent une intention, pas seulement une valeur.</a:t>
            </a:r>
            <a:endParaRPr lang="en-US" sz="15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créer une librairie interne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478998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2954486" y="960120"/>
            <a:ext cx="8722402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une librairie si…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75488" y="1836420"/>
            <a:ext cx="2478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partagé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2954486" y="1836420"/>
            <a:ext cx="87224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modules ont vraiment la même règle.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75488" y="2712720"/>
            <a:ext cx="247899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clair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2954486" y="2712720"/>
            <a:ext cx="87224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Entrées, sorties, erreurs et bornes sont stabilisées.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75488" y="3589020"/>
            <a:ext cx="2478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2954486" y="3589020"/>
            <a:ext cx="87224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règle peut être protégée par des tests communs.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75488" y="4465320"/>
            <a:ext cx="247899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2954486" y="4465320"/>
            <a:ext cx="87224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changements peuvent être annoncés et suivis.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475488" y="5341620"/>
            <a:ext cx="2478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2954486" y="5341620"/>
            <a:ext cx="87224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librairie n’impose pas une couche inutile aux autres.</a:t>
            </a:r>
            <a:endParaRPr lang="en-US" sz="107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minimale d’un composant réutilisable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570813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Rubrique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3046301" y="960120"/>
            <a:ext cx="8630587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Contenu attendu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75488" y="1711234"/>
            <a:ext cx="257081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3046301" y="1711234"/>
            <a:ext cx="863058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 composant existe.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75488" y="2462349"/>
            <a:ext cx="257081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3046301" y="2462349"/>
            <a:ext cx="863058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Entrées, sorties, erreurs, limites.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75488" y="3213463"/>
            <a:ext cx="257081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3046301" y="3213463"/>
            <a:ext cx="863058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usages simples et réalistes.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75488" y="3964577"/>
            <a:ext cx="257081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3046301" y="3964577"/>
            <a:ext cx="863058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protégés et commandes d’exécution.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475488" y="4715691"/>
            <a:ext cx="257081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3046301" y="4715691"/>
            <a:ext cx="863058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change entre deux versions.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75488" y="5466806"/>
            <a:ext cx="257081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Non-objectifs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046301" y="5466806"/>
            <a:ext cx="863058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composant ne doit pas faire.</a:t>
            </a:r>
            <a:endParaRPr lang="en-US" sz="107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générés par IA : utiles, mais non normatifs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exemple montre une utilisation possible ; il ne définit pas la règle métier.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La spécification reste le contrat validé, les tests et la décision d’équipe.</a:t>
            </a:r>
            <a:endParaRPr lang="en-US" sz="1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pour protéger l’extraction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 testBatteryPolicy() {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assert(!hasEnoughBatteryToStart(19));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assert(hasEnoughBatteryToStart(20));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assert(hasEnoughBatteryToStart(80));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Les tests rendent visible la borne.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Si la règle change, l'équipe modifie le test et la constante ensemble.</a:t>
            </a:r>
            <a:endParaRPr lang="en-US" sz="15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Éviter les dépendances trop fortes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60" dirty="0">
                <a:solidFill>
                  <a:srgbClr val="152033"/>
                </a:solidFill>
              </a:rPr>
              <a:t>Une librairie métier ne doit pas dépendre d’un écran de supervision.</a:t>
            </a:r>
            <a:endParaRPr lang="en-US" sz="1960" dirty="0"/>
          </a:p>
          <a:p>
            <a:pPr marL="177800" indent="-177800">
              <a:buSzPct val="100000"/>
              <a:buChar char="•"/>
            </a:pPr>
            <a:r>
              <a:rPr lang="en-US" sz="1960" dirty="0">
                <a:solidFill>
                  <a:srgbClr val="152033"/>
                </a:solidFill>
              </a:rPr>
              <a:t>Une politique de décision ne doit pas lire directement le capteur matériel.</a:t>
            </a:r>
            <a:endParaRPr lang="en-US" sz="1960" dirty="0"/>
          </a:p>
          <a:p>
            <a:pPr marL="177800" indent="-177800">
              <a:buSzPct val="100000"/>
              <a:buChar char="•"/>
            </a:pPr>
            <a:r>
              <a:rPr lang="en-US" sz="1960" dirty="0">
                <a:solidFill>
                  <a:srgbClr val="152033"/>
                </a:solidFill>
              </a:rPr>
              <a:t>Un composant partagé ne doit pas imposer tout un framework à un petit module.</a:t>
            </a:r>
            <a:endParaRPr lang="en-US" sz="1960" dirty="0"/>
          </a:p>
          <a:p>
            <a:pPr marL="177800" indent="-177800">
              <a:buSzPct val="100000"/>
              <a:buChar char="•"/>
            </a:pPr>
            <a:r>
              <a:rPr lang="en-US" sz="1960" dirty="0">
                <a:solidFill>
                  <a:srgbClr val="152033"/>
                </a:solidFill>
              </a:rPr>
              <a:t>Plus le composant est partagé, plus son contrat doit être petit, stable et testé.</a:t>
            </a:r>
            <a:endParaRPr lang="en-US" sz="19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faut-il extraire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Cas A : deux seuils identiques aujourd’hui, mais deux règles métier différentes demain.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Cas B : même calcul recopié dans trois modules avec mêmes entrées et mêmes tests.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Cas C : fonction utile mais dépendante de la supervision graphique.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52033"/>
                </a:solidFill>
              </a:rPr>
              <a:t>Décider : garder local, extraire une fonction, ou proposer un composant candidat.</a:t>
            </a:r>
            <a:endParaRPr lang="en-US" sz="1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Séquence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16:45–17:30 • Process “Reusable Candidate”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Passer d’une bonne idée locale à un composant partagé sans précipitation.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rendre visibles les décisions, les interfaces et les preuves partagées.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un statut “candidate”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signifie : prometteur, mais pas encore standard officiel.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Ce statut protège l’équipe contre deux excès : tout recopier partout ou tout abstraire trop vite.</a:t>
            </a:r>
            <a:endParaRPr lang="en-US" sz="1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Matrice de décision Reusable Candidate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203554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2679042" y="960120"/>
            <a:ext cx="3948034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627077" y="960120"/>
            <a:ext cx="5049811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475488" y="1711234"/>
            <a:ext cx="22035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partagé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679042" y="1711234"/>
            <a:ext cx="394803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seul module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627077" y="1711234"/>
            <a:ext cx="504981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modules et même intention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75488" y="2462349"/>
            <a:ext cx="22035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Stabilité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2679042" y="2462349"/>
            <a:ext cx="394803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change souvent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627077" y="2462349"/>
            <a:ext cx="504981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métier confirmée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75488" y="3213463"/>
            <a:ext cx="22035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2679042" y="3213463"/>
            <a:ext cx="394803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 floues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627077" y="3213463"/>
            <a:ext cx="504981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 / sorties / erreurs claires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475488" y="3964577"/>
            <a:ext cx="22035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2679042" y="3964577"/>
            <a:ext cx="394803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test commun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627077" y="3964577"/>
            <a:ext cx="504981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de borne et régression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475488" y="4715691"/>
            <a:ext cx="22035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2679042" y="4715691"/>
            <a:ext cx="394803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Tire une couche inutile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627077" y="4715691"/>
            <a:ext cx="504981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 légère et maîtrisée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75488" y="5466806"/>
            <a:ext cx="22035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2679042" y="5466806"/>
            <a:ext cx="394803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local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6627077" y="5466806"/>
            <a:ext cx="504981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en candidate</a:t>
            </a:r>
            <a:endParaRPr lang="en-US" sz="97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ne pas extraire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938072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d’alerte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13560" y="960120"/>
            <a:ext cx="8263328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836420"/>
            <a:ext cx="29380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“Ça se ressemble un peu”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13560" y="1836420"/>
            <a:ext cx="826332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ressemblance de syntaxe ne prouve pas un besoin commun.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712720"/>
            <a:ext cx="293807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instable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13560" y="2712720"/>
            <a:ext cx="826332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abstraction instable propage les changements.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589020"/>
            <a:ext cx="29380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flou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3560" y="3589020"/>
            <a:ext cx="826332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utilisateurs devront deviner.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465320"/>
            <a:ext cx="293807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 lourde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13560" y="4465320"/>
            <a:ext cx="826332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composant impose trop de contexte.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5341620"/>
            <a:ext cx="29380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3560" y="5341620"/>
            <a:ext cx="826332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partage une fragilité au lieu de partager une règle.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Nommer, versionner, tester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203554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Sujet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79042" y="960120"/>
            <a:ext cx="8997846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simple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836420"/>
            <a:ext cx="22035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9042" y="1836420"/>
            <a:ext cx="899784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l’intention métier, pas l’implémentation technique.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712720"/>
            <a:ext cx="220355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Versionner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79042" y="2712720"/>
            <a:ext cx="899784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Signaler les changements de contrat, surtout ruptures et bornes.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589020"/>
            <a:ext cx="22035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9042" y="3589020"/>
            <a:ext cx="899784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Protéger succès, échec, borne, erreur et comportement inattendu.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465320"/>
            <a:ext cx="220355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9042" y="4465320"/>
            <a:ext cx="899784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Donner but, contrat, exemples et non-objectifs.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5341620"/>
            <a:ext cx="22035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9042" y="5341620"/>
            <a:ext cx="899784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personne ou un groupe valide le passage de candidate à standard.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Reusable Candidate en sept étapes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465653" cy="45720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Repérer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532888"/>
            <a:ext cx="1465653" cy="12070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Doublon ou règle commune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005149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178885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78885" y="1965960"/>
            <a:ext cx="1465653" cy="45720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Qualifier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178885" y="2532888"/>
            <a:ext cx="1465653" cy="120700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Besoin réellement partagé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589673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763409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3409" y="1965960"/>
            <a:ext cx="1465653" cy="45720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Définir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63409" y="2532888"/>
            <a:ext cx="1465653" cy="120700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Contrat minimal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174198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347934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7934" y="1965960"/>
            <a:ext cx="1465653" cy="45720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Tester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47934" y="2532888"/>
            <a:ext cx="1465653" cy="120700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Cas limites et régression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758722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932458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32458" y="1965960"/>
            <a:ext cx="1465653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Documenter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32458" y="2532888"/>
            <a:ext cx="1465653" cy="1207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But, usage, non-objectifs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343247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516983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16983" y="1965960"/>
            <a:ext cx="1465653" cy="457200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Versionner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16983" y="2532888"/>
            <a:ext cx="1465653" cy="1207008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Changement visible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9927771" y="2724912"/>
            <a:ext cx="118872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101507" y="160020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01507" y="1965960"/>
            <a:ext cx="1465653" cy="45720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033"/>
                </a:solidFill>
              </a:rPr>
              <a:t>Valider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101507" y="2532888"/>
            <a:ext cx="1465653" cy="120700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77A"/>
                </a:solidFill>
              </a:rPr>
              <a:t>Décision d’équipe</a:t>
            </a:r>
            <a:endParaRPr lang="en-US" sz="122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: arborescence C++ réutilisable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11109960" cy="5193792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j2_demo/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 include/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 motion_types.hpp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 motion_policy.hpp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└── src/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└── main.cpp</a:t>
            </a:r>
            <a:endParaRPr lang="en-US" sz="1640" dirty="0"/>
          </a:p>
          <a:p>
            <a:pPr indent="0" marL="0">
              <a:buNone/>
            </a:pP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Compilation :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g++ -std=c++17 -Wall -Wextra -pedantic src/main.cpp -Iinclude -o j2_demo</a:t>
            </a:r>
            <a:endParaRPr lang="en-US" sz="1640" dirty="0"/>
          </a:p>
          <a:p>
            <a:pPr indent="0" marL="0">
              <a:buNone/>
            </a:pP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Objectif : montrer un contrat réutilisable, petit et testable.</a:t>
            </a:r>
            <a:endParaRPr lang="en-US" sz="16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Rôle des fichiers de la démonstration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754443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29931" y="960120"/>
            <a:ext cx="8446957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 pédagogique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275444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motion_types.hpp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29931" y="2011680"/>
            <a:ext cx="844695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partagés : RobotMode, RefusalReason, RobotStatus, MotionDecision.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063240"/>
            <a:ext cx="275444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motion_policy.hpp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9931" y="3063240"/>
            <a:ext cx="844695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métier : canStartMission().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4114800"/>
            <a:ext cx="275444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9931" y="4114800"/>
            <a:ext cx="844695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simples avec assert et cas de démonstration.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5166360"/>
            <a:ext cx="275444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 g++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9931" y="5166360"/>
            <a:ext cx="844695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locale : compiler avant de discuter la suggestion IA.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de fin de J2 : compétences à verbaliser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835640" cy="4892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repère un bug transverse comme un problème de frontière entre modules.</a:t>
            </a:r>
            <a:endParaRPr lang="en-US" sz="1810" dirty="0"/>
          </a:p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sais préparer un AI Technical Sync avec une fiche d’impact.</a:t>
            </a:r>
            <a:endParaRPr lang="en-US" sz="1810" dirty="0"/>
          </a:p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définis une interface avec entrées, sorties, erreurs et tests.</a:t>
            </a:r>
            <a:endParaRPr lang="en-US" sz="1810" dirty="0"/>
          </a:p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transforme des règles de maintenabilité en critères observables.</a:t>
            </a:r>
            <a:endParaRPr lang="en-US" sz="1810" dirty="0"/>
          </a:p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configure Copilot avec des consignes projet utiles.</a:t>
            </a:r>
            <a:endParaRPr lang="en-US" sz="1810" dirty="0"/>
          </a:p>
          <a:p>
            <a:pPr marL="177800" indent="-177800">
              <a:buSzPct val="100000"/>
              <a:buChar char="•"/>
            </a:pPr>
            <a:r>
              <a:rPr lang="en-US" sz="1810" dirty="0">
                <a:solidFill>
                  <a:srgbClr val="152033"/>
                </a:solidFill>
              </a:rPr>
              <a:t>Je décide si un code doit rester local, devenir candidat ou devenir librairie interne.</a:t>
            </a:r>
            <a:endParaRPr lang="en-US" sz="181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Glossaire express J2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019925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Terme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2495413" y="960120"/>
            <a:ext cx="9181475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Définition simple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75488" y="1711234"/>
            <a:ext cx="201992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Silo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2495413" y="1711234"/>
            <a:ext cx="91814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isolé qui cache les impacts jusqu’à l’intégration.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75488" y="2462349"/>
            <a:ext cx="201992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2495413" y="2462349"/>
            <a:ext cx="91814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par lequel deux parties du code communiquent.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75488" y="3213463"/>
            <a:ext cx="201992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2495413" y="3213463"/>
            <a:ext cx="91814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Degré de dépendance entre modules.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75488" y="3964577"/>
            <a:ext cx="201992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2495413" y="3964577"/>
            <a:ext cx="91814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Degré d’unité des responsabilités dans un module.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475488" y="4715691"/>
            <a:ext cx="201992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2495413" y="4715691"/>
            <a:ext cx="91814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une idée commune pour ne pas recopier un détail partout.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75488" y="5466806"/>
            <a:ext cx="201992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2495413" y="5466806"/>
            <a:ext cx="91814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Composant prometteur, testé, mais pas encore standard officiel.</a:t>
            </a:r>
            <a:endParaRPr lang="en-US" sz="107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retenir pour le J3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J2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98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J3 transformera ces règles d’équipe en environnement contrôlé : Copilot, VS Code, licences, PR et CI.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B677A"/>
                </a:solidFill>
              </a:rPr>
              <a:t>On passe de la méthode collective à la chaîne d’outillage.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J2 - Synchronisation d’équipe, maintenabilité et réutilisation du code</dc:title>
  <dc:subject>Support de cours J2 - IA, Copilot et C++ industriel</dc:subject>
  <dc:creator>OpenAI</dc:creator>
  <cp:lastModifiedBy>OpenAI</cp:lastModifiedBy>
  <cp:revision>1</cp:revision>
  <dcterms:created xsi:type="dcterms:W3CDTF">2026-09-13T17:57:36Z</dcterms:created>
  <dcterms:modified xsi:type="dcterms:W3CDTF">2026-09-13T17:57:36Z</dcterms:modified>
</cp:coreProperties>
</file>