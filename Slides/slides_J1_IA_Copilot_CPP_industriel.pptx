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A6A6"/>
                </a:solidFill>
              </a:rPr>
              <a:t>Support de cours • Slides J1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Comprendre, cadrer et utiliser l’IA correctement en C++ industriel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0723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7E2EA"/>
                </a:solidFill>
              </a:rPr>
              <a:t>Robot porte-palette • Prompts professionnels • Génération contrôlée • Tests • Double revue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Objectif : l’IA accélère les propositions ; l’équipe garde la spécification, la preuve et la décision.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5669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A6A6"/>
                </a:solidFill>
              </a:rPr>
              <a:t>J1 • 7 h 30 • 09:00–17:30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Progression du J1 : du risque à la preuve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63830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Responsabilité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163830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Distinguer aide, génération et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78380" y="2606040"/>
            <a:ext cx="128016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4612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1260" y="1828800"/>
            <a:ext cx="1638300" cy="4389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Criticité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461260" y="2404872"/>
            <a:ext cx="1638300" cy="12344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Classer les zones du robot en vert / orange / rouge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45280" y="2606040"/>
            <a:ext cx="128016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3281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28160" y="1828800"/>
            <a:ext cx="163830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Règles IA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328160" y="2404872"/>
            <a:ext cx="163830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Transformer la prudence en règles observables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12180" y="2606040"/>
            <a:ext cx="128016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950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95060" y="1828800"/>
            <a:ext cx="163830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Prompt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195060" y="2404872"/>
            <a:ext cx="163830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Réduire l’ambiguïté avant de générer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79080" y="2606040"/>
            <a:ext cx="128016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619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61960" y="1828800"/>
            <a:ext cx="16383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Code + tests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061960" y="2404872"/>
            <a:ext cx="16383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Générer une unité contrôlable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45980" y="2606040"/>
            <a:ext cx="128016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928860" y="1481328"/>
            <a:ext cx="329184" cy="292608"/>
          </a:xfrm>
          <a:prstGeom prst="rect">
            <a:avLst/>
          </a:prstGeom>
          <a:solidFill>
            <a:srgbClr val="26A6A6"/>
          </a:solidFill>
          <a:ln>
            <a:solidFill>
              <a:srgbClr val="26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28860" y="1828800"/>
            <a:ext cx="1638300" cy="43891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Double revue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928860" y="2404872"/>
            <a:ext cx="1638300" cy="123444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Demander une revue IA puis décider humainement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J1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260051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Horaire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7251" y="960120"/>
            <a:ext cx="2520102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37352" y="960120"/>
            <a:ext cx="4293506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centrale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30859" y="960120"/>
            <a:ext cx="3173461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711234"/>
            <a:ext cx="12600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09:00–10:00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7251" y="1711234"/>
            <a:ext cx="25201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IA, robotique et responsabilité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7352" y="1711234"/>
            <a:ext cx="429350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peut-on déléguer 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30859" y="1711234"/>
            <a:ext cx="317346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: proposition ≠ 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462349"/>
            <a:ext cx="12600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10:00–11:15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17251" y="2462349"/>
            <a:ext cx="25201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Cartographie du robot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37352" y="2462349"/>
            <a:ext cx="429350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Toutes les zones ont-elles le même risque 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30859" y="2462349"/>
            <a:ext cx="317346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 vert / orange / rouge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13463"/>
            <a:ext cx="12600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11:15–12:30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17251" y="3213463"/>
            <a:ext cx="25201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internes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37352" y="3213463"/>
            <a:ext cx="429350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rendre la prudence opérationnelle 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30859" y="3213463"/>
            <a:ext cx="317346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Mini-charte 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964577"/>
            <a:ext cx="12600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13:30–15:00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17251" y="3964577"/>
            <a:ext cx="25201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technique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37352" y="3964577"/>
            <a:ext cx="429350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réduire l’ambiguïté 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30859" y="3964577"/>
            <a:ext cx="317346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Gabarit réutilisable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15691"/>
            <a:ext cx="12600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15:00–16:30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17251" y="4715691"/>
            <a:ext cx="2520102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C++ + tests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37352" y="4715691"/>
            <a:ext cx="4293506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garder le contrôle 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30859" y="4715691"/>
            <a:ext cx="317346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+ tests + contrôles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466806"/>
            <a:ext cx="12600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16:30–17:30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17251" y="5466806"/>
            <a:ext cx="2520102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IA + humaine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37352" y="5466806"/>
            <a:ext cx="4293506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relire sans déléguer 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30859" y="5466806"/>
            <a:ext cx="317346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de double revue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Principe de la journée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L’IA propose. Le développeur spécifie, vérifie, teste et décide.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La sortie de l’assistant n’est jamais une preuve en elle-même.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Séquence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09:00–10:00 • IA, robotique et responsabilité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Installer le bon niveau de confiance avant toute génération de code.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 rouge : robot porte-palette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01168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Mission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201168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Transporter une palette de A vers 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265176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152704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201168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État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834640" y="2450592"/>
            <a:ext cx="201168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Mode, batterie, capteurs, freins, erreurs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265176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52704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1874520"/>
            <a:ext cx="201168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Décision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74920" y="2450592"/>
            <a:ext cx="201168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Autoriser ou refuser un mouvement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65176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0" y="152704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1874520"/>
            <a:ext cx="2011680" cy="43891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Action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0" y="2450592"/>
            <a:ext cx="2011680" cy="123444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Commander le déplacement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72600" y="265176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55480" y="152704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55480" y="1874520"/>
            <a:ext cx="2011680" cy="4389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Observation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555480" y="2450592"/>
            <a:ext cx="2011680" cy="12344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Logs, diagnostic, supervision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mission au mouvement : questions de contrôle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554480" cy="87630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960120"/>
            <a:ext cx="4572000" cy="87630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robot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960120"/>
            <a:ext cx="5120640" cy="87630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contrôle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15544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836420"/>
            <a:ext cx="457200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Transporter une palette de A vers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836420"/>
            <a:ext cx="512064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mission est-elle valide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15544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712720"/>
            <a:ext cx="457200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Idle, batterie, capteurs, freins, erreurs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712720"/>
            <a:ext cx="512064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données sont-elles disponibles et cohérentes 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15544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589020"/>
            <a:ext cx="457200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Autoriser ou refuser le mouvement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589020"/>
            <a:ext cx="512064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Toutes les contraintes sont-elles respectées 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15544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4465320"/>
            <a:ext cx="457200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Commander le déplacement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465320"/>
            <a:ext cx="512064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commande est-elle admissible 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15544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5341620"/>
            <a:ext cx="457200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diagnostic, supervision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5341620"/>
            <a:ext cx="512064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expliquer ce qui s’est produit 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Assistance, génération, validation : trois verbes distincts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50520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Assistance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587752"/>
            <a:ext cx="350520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Aide à comprendre, reformuler, comparer ou suggérer des pistes.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5280" y="278892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28160" y="166420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28160" y="2011680"/>
            <a:ext cx="350520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Génération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28160" y="2587752"/>
            <a:ext cx="350520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Produit une sortie nouvelle : code, test, documentation ou configuration.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79080" y="2788920"/>
            <a:ext cx="128016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061960" y="1664208"/>
            <a:ext cx="329184" cy="2926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61960" y="2011680"/>
            <a:ext cx="350520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Validation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061960" y="2587752"/>
            <a:ext cx="350520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Établit qu’un résultat satisfait des critères définis.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chaque niveau ne prouve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59028" cy="131445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16228" y="960120"/>
            <a:ext cx="4182813" cy="131445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9041" y="960120"/>
            <a:ext cx="5205279" cy="131445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cela ne prouve pas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185902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16228" y="2274570"/>
            <a:ext cx="418281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une fonction existante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9041" y="2274570"/>
            <a:ext cx="520527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toutes les contraintes réelles sont couvertes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1859028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16228" y="3589020"/>
            <a:ext cx="4182813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une classe d’autorisation de mouvement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9041" y="3589020"/>
            <a:ext cx="5205279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le code est sûr, complet ou conforme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185902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16228" y="4903470"/>
            <a:ext cx="418281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revue humaine + critères projet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9041" y="4903470"/>
            <a:ext cx="520527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validation ne peut pas être remplacée par une affirmation IA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l’IA peut réellement aider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Accélérer une première version de petite fonction ou classe.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Proposer des tests auxquels le développeur n’a pas encore pensé.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Reformuler un contrat d’interface ou une documentation.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Comparer deux variantes de code et expliciter les différences.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Construire une checklist de revue.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la même IA peut devenir dangereuse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Une réponse fluide peut masquer une omission métier.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Un code qui compile peut rester comportementalement faux.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Un test peut vérifier la mauvaise hypothèse.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Une valeur “raisonnable” peut être inventée.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52033"/>
                </a:solidFill>
              </a:rPr>
              <a:t>Une affirmation catégorique peut créer une fausse confiance.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Risques typiques d’une sortie 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935980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2393180" y="960120"/>
            <a:ext cx="3871959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265139" y="960120"/>
            <a:ext cx="5439181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pédagogique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1935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Omission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393180" y="18364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Capteur frontal oublié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265139" y="1836420"/>
            <a:ext cx="543918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la sortie à la liste des contraintes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19359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Hypothèse inventée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393180" y="2712720"/>
            <a:ext cx="387195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Seuil batterie choisi sans source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265139" y="2712720"/>
            <a:ext cx="543918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toute valeur métier inventée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1935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fictive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393180" y="35890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 inexistante mais plausible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265139" y="3589020"/>
            <a:ext cx="543918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et vérifier les symboles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193598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Mauvaise généralisation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393180" y="4465320"/>
            <a:ext cx="387195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Idle appliquée à d’autres modes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265139" y="4465320"/>
            <a:ext cx="5439181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les états non admissibles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193598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Fausse confiance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393180" y="53416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code est sûr”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265139" y="5341620"/>
            <a:ext cx="5439181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Exiger des preuves vérifiables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guidée : proposition ≠ preuve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Demander : “Écris une fonction C++ qui dit si le robot peut avancer.”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Faire apparaître les informations manquantes avant de juger la syntaxe.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Questions clés : seuil batterie, freins, capteur, mode, erreur critique, sortie attendue.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Conclusion : sans critères, on ne sait pas évaluer la sortie.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au groupe : réponses attendues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779770" cy="105156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4236970" y="960120"/>
            <a:ext cx="2765685" cy="105156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courte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002655" y="960120"/>
            <a:ext cx="4701665" cy="1051560"/>
          </a:xfrm>
          <a:prstGeom prst="rect">
            <a:avLst/>
          </a:prstGeom>
          <a:solidFill>
            <a:srgbClr val="2F80ED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Relance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77977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IA peut-elle écrire du code qui compile ?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4236970" y="2011680"/>
            <a:ext cx="276568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002655" y="2011680"/>
            <a:ext cx="470166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prouve-t-il le comportement métier ? Non.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77977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IA peut-elle générer des tests ?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236970" y="3063240"/>
            <a:ext cx="276568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7002655" y="3063240"/>
            <a:ext cx="470166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Couvrent-ils forcément les cas oubliés ? Non.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377977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valide l’intégration ?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236970" y="4114800"/>
            <a:ext cx="276568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L’équipe / responsable humain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7002655" y="4114800"/>
            <a:ext cx="470166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décision doit être fondée sur des critères.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377977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Qu’est-ce qui vient avant la génération ?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236970" y="5166360"/>
            <a:ext cx="276568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besoin et les contraintes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002655" y="5166360"/>
            <a:ext cx="470166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Sans critères, on ne juge pas la sortie.</a:t>
            </a:r>
            <a:endParaRPr lang="en-US" sz="11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Mini-synthèse séquence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assistant IA accélère la proposition. Il ne remplace ni la spécification ni la preuve.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Règle orale à faire reformuler par les participants.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Séquence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10:00–11:15 • Cartographie des zones du robot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Avant de générer, qualifier l’impact potentiel d’une erreur.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sept couches du fil rouge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377440" y="1051560"/>
            <a:ext cx="1920240" cy="603504"/>
          </a:xfrm>
          <a:prstGeom prst="rect">
            <a:avLst/>
          </a:prstGeom>
          <a:solidFill>
            <a:srgbClr val="F3F0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Supervision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051560"/>
            <a:ext cx="5486400" cy="603504"/>
          </a:xfrm>
          <a:prstGeom prst="rect">
            <a:avLst/>
          </a:prstGeom>
          <a:solidFill>
            <a:srgbClr val="F3F0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Vue globale, alarmes, commandes opérateur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377440" y="1728216"/>
            <a:ext cx="1920240" cy="603504"/>
          </a:xfrm>
          <a:prstGeom prst="rect">
            <a:avLst/>
          </a:prstGeom>
          <a:solidFill>
            <a:srgbClr val="EEF4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1728216"/>
            <a:ext cx="5486400" cy="603504"/>
          </a:xfrm>
          <a:prstGeom prst="rect">
            <a:avLst/>
          </a:prstGeom>
          <a:solidFill>
            <a:srgbClr val="EEF4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Objectifs, séquence métier, priorités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77440" y="2404872"/>
            <a:ext cx="1920240" cy="603504"/>
          </a:xfrm>
          <a:prstGeom prst="rect">
            <a:avLst/>
          </a:prstGeom>
          <a:solidFill>
            <a:srgbClr val="EAF3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Navigation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404872"/>
            <a:ext cx="5486400" cy="603504"/>
          </a:xfrm>
          <a:prstGeom prst="rect">
            <a:avLst/>
          </a:prstGeom>
          <a:solidFill>
            <a:srgbClr val="EAF3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Trajectoire, localisation, évitement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77440" y="3081528"/>
            <a:ext cx="1920240" cy="603504"/>
          </a:xfrm>
          <a:prstGeom prst="rect">
            <a:avLst/>
          </a:prstGeom>
          <a:solidFill>
            <a:srgbClr val="FDEAEA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Safety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3081528"/>
            <a:ext cx="5486400" cy="603504"/>
          </a:xfrm>
          <a:prstGeom prst="rect">
            <a:avLst/>
          </a:prstGeom>
          <a:solidFill>
            <a:srgbClr val="FDEAEA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Règles empêchant un mouvement inadmissible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77440" y="3758184"/>
            <a:ext cx="1920240" cy="603504"/>
          </a:xfrm>
          <a:prstGeom prst="rect">
            <a:avLst/>
          </a:prstGeom>
          <a:solidFill>
            <a:srgbClr val="FFF3E6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758184"/>
            <a:ext cx="5486400" cy="603504"/>
          </a:xfrm>
          <a:prstGeom prst="rect">
            <a:avLst/>
          </a:prstGeom>
          <a:solidFill>
            <a:srgbClr val="FFF3E6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Messages, protocoles, synchronisation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377440" y="4434840"/>
            <a:ext cx="1920240" cy="603504"/>
          </a:xfrm>
          <a:prstGeom prst="rect">
            <a:avLst/>
          </a:prstGeom>
          <a:solidFill>
            <a:srgbClr val="EAF7EA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Diagnostic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4434840"/>
            <a:ext cx="5486400" cy="603504"/>
          </a:xfrm>
          <a:prstGeom prst="rect">
            <a:avLst/>
          </a:prstGeom>
          <a:solidFill>
            <a:srgbClr val="EAF7EA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Logs, événements, analyse de défauts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377440" y="5111496"/>
            <a:ext cx="1920240" cy="603504"/>
          </a:xfrm>
          <a:prstGeom prst="rect">
            <a:avLst/>
          </a:prstGeom>
          <a:solidFill>
            <a:srgbClr val="F1F4F8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445A"/>
                </a:solidFill>
              </a:rPr>
              <a:t>Hardware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5111496"/>
            <a:ext cx="5486400" cy="603504"/>
          </a:xfrm>
          <a:prstGeom prst="rect">
            <a:avLst/>
          </a:prstGeom>
          <a:solidFill>
            <a:srgbClr val="F1F4F8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52033"/>
                </a:solidFill>
              </a:rPr>
              <a:t>Capteurs, actionneurs, état batterie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A"/>
                </a:solidFill>
              </a:rPr>
              <a:t>Lecture : plus on se rapproche de l’action physique ou d’une décision irréversible, plus la validation doit être forte.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Couches du robot : rôle et risque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43790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2300990" y="960120"/>
            <a:ext cx="3687580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 simplifié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988570" y="960120"/>
            <a:ext cx="5715750" cy="105156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risque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4379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300990" y="2011680"/>
            <a:ext cx="36875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aux éléments physiques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988570" y="2011680"/>
            <a:ext cx="571575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erreur peut-elle produire une commande physique incorrecte ?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84379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300990" y="3063240"/>
            <a:ext cx="368758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Empêche ou arrête un comportement dangereux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5988570" y="3063240"/>
            <a:ext cx="571575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erreur peut-elle autoriser une action interdite ?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84379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300990" y="4114800"/>
            <a:ext cx="36875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Déplacement et localisation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988570" y="4114800"/>
            <a:ext cx="571575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décision erronée peut-elle provoquer collision ou blocage ?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184379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300990" y="5166360"/>
            <a:ext cx="368758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 quoi faire et dans quel ordre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988570" y="5166360"/>
            <a:ext cx="571575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mission incohérente peut-elle demander un mouvement inadmissible ?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Couches du robot : rôle et risque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028169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85369" y="960120"/>
            <a:ext cx="3871959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 simplifié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7329" y="960120"/>
            <a:ext cx="5346991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risque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202816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85369" y="2274570"/>
            <a:ext cx="387195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globale et pilotage opérationnel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7329" y="2274570"/>
            <a:ext cx="5346991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information erronée peut-elle induire une mauvaise décision humaine 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2028169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85369" y="3589020"/>
            <a:ext cx="3871959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 à comprendre défauts et événements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7329" y="3589020"/>
            <a:ext cx="5346991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L’erreur affecte-t-elle l’action ou surtout l’analyse 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202816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85369" y="4903470"/>
            <a:ext cx="3871959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Échanges avec autres modules ou systèmes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7329" y="4903470"/>
            <a:ext cx="5346991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donnée mal interprétée peut-elle contaminer plusieurs modules 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Criticité pédagogique : vert / orange / rouge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280160" cy="131445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Couleur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1737360" y="960120"/>
            <a:ext cx="2834640" cy="131445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IA possible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4572000" y="960120"/>
            <a:ext cx="4114800" cy="131445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 attendu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8686800" y="960120"/>
            <a:ext cx="3017520" cy="131445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457200" y="2274570"/>
            <a:ext cx="12801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1737360" y="2274570"/>
            <a:ext cx="283464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Assistance large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4572000" y="2274570"/>
            <a:ext cx="411480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Relecture normale + vérification habituelle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686800" y="2274570"/>
            <a:ext cx="301752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ou nommage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57200" y="3589020"/>
            <a:ext cx="128016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1737360" y="3589020"/>
            <a:ext cx="283464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Génération possible avec contraintes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572000" y="3589020"/>
            <a:ext cx="411480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ciblés + contrat + revue renforcée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686800" y="3589020"/>
            <a:ext cx="301752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de données de supervision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457200" y="4903470"/>
            <a:ext cx="12801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1737360" y="4903470"/>
            <a:ext cx="283464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très encadré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4572000" y="4903470"/>
            <a:ext cx="411480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Exigences explicites + tests négatifs + revue humaine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8686800" y="4903470"/>
            <a:ext cx="301752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Autorisation de mouvement liée à la safety</a:t>
            </a:r>
            <a:endParaRPr lang="en-US" sz="10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 de décision pour discuter la criticité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Que se passe-t-il si cette fonction se trompe ?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L’erreur peut-elle déclencher ou autoriser une action physique ?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L’erreur sera-t-elle détectée automatiquement avant effet ?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Peut-on revenir en arrière facilement ?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Une personne valide-t-elle avant exécution ?</a:t>
            </a:r>
            <a:endParaRPr lang="en-US" sz="2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classer des fonctions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Travail en binômes : classer chaque fonction en vert, orange ou rouge.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Le classement n’est pas une norme : c’est un outil de raisonnement.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Chaque réponse doit être justifiée par l’impact d’une erreur et les contrôles possibles.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Sortie attendue : couleur + hypothèses + contrôle minimal.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criticité : correction guidée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87580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4144780" y="960120"/>
            <a:ext cx="2304738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Couleur proposée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6449518" y="960120"/>
            <a:ext cx="5254802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368758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Résumé lisible des logs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4144780" y="2274570"/>
            <a:ext cx="230473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 à ORANGE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6449518" y="2274570"/>
            <a:ext cx="525480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impact si aide à la lecture ; plus critique si décision automatique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368758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Autorisation de mouvement selon freins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4144780" y="3589020"/>
            <a:ext cx="2304738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6449518" y="3589020"/>
            <a:ext cx="525480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erreur peut autoriser un mouvement inadmissible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368758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de variable / fonction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4144780" y="4903470"/>
            <a:ext cx="230473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6449518" y="4903470"/>
            <a:ext cx="525480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facilement détectable, pas d’effet physique direct</a:t>
            </a:r>
            <a:endParaRPr lang="en-US" sz="11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criticité : correction guidée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87580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4144780" y="960120"/>
            <a:ext cx="2489117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Couleur proposée</a:t>
            </a:r>
            <a:endParaRPr lang="en-US" sz="1170" dirty="0"/>
          </a:p>
        </p:txBody>
      </p:sp>
      <p:sp>
        <p:nvSpPr>
          <p:cNvPr id="8" name="Text 6"/>
          <p:cNvSpPr/>
          <p:nvPr/>
        </p:nvSpPr>
        <p:spPr>
          <a:xfrm>
            <a:off x="6633897" y="960120"/>
            <a:ext cx="5070423" cy="131445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368758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de mission vers commande interne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4144780" y="2274570"/>
            <a:ext cx="248911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à ROUGE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6633897" y="2274570"/>
            <a:ext cx="507042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Mauvaise interprétation possible vers couches critiques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368758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d’état supervision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4144780" y="3589020"/>
            <a:ext cx="2489117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6633897" y="3589020"/>
            <a:ext cx="5070423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erronée pouvant influencer l’opérateur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368758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Suggérer des tests safety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4144780" y="4903470"/>
            <a:ext cx="2489117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 pour la règle, IA utile en assistance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6633897" y="4903470"/>
            <a:ext cx="507042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acceptation restent humaines</a:t>
            </a:r>
            <a:endParaRPr lang="en-US" sz="11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Cartographie de référence pour la suite du J1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673496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3130696" y="960120"/>
            <a:ext cx="4148528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IA acceptable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279224" y="960120"/>
            <a:ext cx="4425096" cy="1314450"/>
          </a:xfrm>
          <a:prstGeom prst="rect">
            <a:avLst/>
          </a:prstGeom>
          <a:solidFill>
            <a:srgbClr val="7B61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 minimal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267349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conséquence directe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3130696" y="2274570"/>
            <a:ext cx="414852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Documentation, explication, noms, synthèse non décisionnelle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279224" y="2274570"/>
            <a:ext cx="442509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humaine et cohérence générale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2673496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 métier modérée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130696" y="3589020"/>
            <a:ext cx="4148528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de données, logique mission non critique, interfaces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279224" y="3589020"/>
            <a:ext cx="4425096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clair, tests positifs/négatifs, revue ciblée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267349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 critique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3130696" y="4903470"/>
            <a:ext cx="4148528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Autorisation de mouvement, freins, capteurs, erreurs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7279224" y="4903470"/>
            <a:ext cx="4425096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Spécification explicite, tests limites, revue indépendante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Mini-synthèse séquence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 de choisir comment utiliser l’IA, on qualifie l’impact d’une erreur.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Plus l’impact est fort, plus le contrôle doit être explicite.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Séquence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11:15–12:30 • Règles internes d’utilisation de l’IA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Transformer la prudence générale en comportements vérifiables.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Confidentialité : la première question avant le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 ne colle que ce que j’ai le droit de partager et ce que l’outil a besoin de connaître.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Une bonne règle protège le projet sans empêcher l’usage utile de l’IA.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critique : augmenter les contrôles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29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Le danger n’est pas seulement que l’IA se trompe.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Le danger est de ne pas savoir démontrer qu’elle ne s’est pas trompée.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Le contrôle doit relier besoin → prompt → code → tests → décision.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Les zones rouges demandent une revue humaine renforcée et tracée.</a:t>
            </a:r>
            <a:endParaRPr lang="en-US" sz="2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Règle interne : vague vs opérationnelle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857875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 vague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3315075" y="960120"/>
            <a:ext cx="3411012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elle est faible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726087" y="960120"/>
            <a:ext cx="4978233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Formulation opérationnelle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57200" y="2274570"/>
            <a:ext cx="2857875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“Faire attention au code safety.”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315075" y="2274570"/>
            <a:ext cx="341101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Impossible à vérifier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726087" y="2274570"/>
            <a:ext cx="497823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toute règle d’autorisation au ticket + tests négatifs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457200" y="3589020"/>
            <a:ext cx="2857875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“Ne pas faire confiance à l’IA.”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3315075" y="3589020"/>
            <a:ext cx="3411012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N’indique pas quoi faire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726087" y="3589020"/>
            <a:ext cx="4978233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condition du prompt doit avoir un test associé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457200" y="4903470"/>
            <a:ext cx="2857875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“Vérifier le code.”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315075" y="4903470"/>
            <a:ext cx="3411012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général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726087" y="4903470"/>
            <a:ext cx="4978233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Compiler, exécuter les tests, vérifier seuils, états et erreurs</a:t>
            </a:r>
            <a:endParaRPr lang="en-US" sz="11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Limites de Copilot et réflexes à enseigner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489117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</a:t>
            </a:r>
            <a:endParaRPr lang="en-US" sz="1090" dirty="0"/>
          </a:p>
        </p:txBody>
      </p:sp>
      <p:sp>
        <p:nvSpPr>
          <p:cNvPr id="7" name="Text 5"/>
          <p:cNvSpPr/>
          <p:nvPr/>
        </p:nvSpPr>
        <p:spPr>
          <a:xfrm>
            <a:off x="2946317" y="960120"/>
            <a:ext cx="3779770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Symptôme visible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6726087" y="960120"/>
            <a:ext cx="4978233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Réflexe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248911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incomplet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2946317" y="1836420"/>
            <a:ext cx="377977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Conventions non prévues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6726087" y="1836420"/>
            <a:ext cx="497823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la liste des hypothèses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248911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 excessive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2946317" y="2712720"/>
            <a:ext cx="377977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sans nuance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6726087" y="2712720"/>
            <a:ext cx="497823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preuves, limites et cas négatifs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248911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 élégante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2946317" y="3589020"/>
            <a:ext cx="377977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 trop large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6726087" y="3589020"/>
            <a:ext cx="497823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au besoin du jour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248911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insuffisants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2946317" y="4465320"/>
            <a:ext cx="3779770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nominal seulement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6726087" y="4465320"/>
            <a:ext cx="4978233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Exiger limites et refus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248911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fictive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2946317" y="5341620"/>
            <a:ext cx="3779770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plausible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6726087" y="5341620"/>
            <a:ext cx="4978233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et vérifier la doc projet</a:t>
            </a:r>
            <a:endParaRPr lang="en-US" sz="109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humaine : ce que cela signifie vraiment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50520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Critères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50520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Connaître les contraintes avant de juger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45280" y="283464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28160" y="170992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28160" y="2057400"/>
            <a:ext cx="350520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Contrôle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28160" y="2633472"/>
            <a:ext cx="350520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Vérifier code et tests par rapport aux critères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79080" y="283464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061960" y="170992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61960" y="2057400"/>
            <a:ext cx="350520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Décision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061960" y="2633472"/>
            <a:ext cx="350520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Accepter, modifier ou refuser avec justification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Traçabilité : reconstruire la décision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028169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Élément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2485369" y="960120"/>
            <a:ext cx="4609475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attendue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7094845" y="960120"/>
            <a:ext cx="4609475" cy="105156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2816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485369" y="2011680"/>
            <a:ext cx="460947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+ contraintes + tests demandés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094845" y="2011680"/>
            <a:ext cx="460947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Savoir ce qui a été demandé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02816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 IA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485369" y="3063240"/>
            <a:ext cx="460947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ou suggestion reçue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094845" y="3063240"/>
            <a:ext cx="460947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proposition et besoin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02816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485369" y="4114800"/>
            <a:ext cx="460947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Compilation, tests, revue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094845" y="4114800"/>
            <a:ext cx="4609475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Produire une preuve indépendante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202816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485369" y="5166360"/>
            <a:ext cx="460947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Accepté / modifié / refusé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094845" y="5166360"/>
            <a:ext cx="4609475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Assumer la responsabilité humaine</a:t>
            </a:r>
            <a:endParaRPr lang="en-US" sz="12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rédiger une mini-charte de 6 règles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la confidentialité.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le code critique.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les prompts standards.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les limites de Copilot.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la validation humaine.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1 règle sur la traçabilité.</a:t>
            </a:r>
            <a:endParaRPr lang="en-US" sz="2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qualité d’une règle interne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651729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08929" y="960120"/>
            <a:ext cx="3595391" cy="751114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1234"/>
            <a:ext cx="765172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règle indique-t-elle une action observable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08929" y="1711234"/>
            <a:ext cx="359539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62349"/>
            <a:ext cx="765172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développeur sait-il quand elle s’applique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08929" y="2462349"/>
            <a:ext cx="359539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13463"/>
            <a:ext cx="765172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vérifier qu’elle a été respectée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08929" y="3213463"/>
            <a:ext cx="359539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64577"/>
            <a:ext cx="765172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Évite-t-elle les mots vagues 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08929" y="3964577"/>
            <a:ext cx="359539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15691"/>
            <a:ext cx="765172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Est-elle compatible avec l’entreprise 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08929" y="4715691"/>
            <a:ext cx="359539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466806"/>
            <a:ext cx="765172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Indique-t-elle quand valider davantage 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08929" y="5466806"/>
            <a:ext cx="359539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Mini-synthèse séquence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bonne règle interne transforme un risque en comportement vérifiable.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Ce qui n’est pas observable reste difficile à contrôler.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</a:rPr>
              <a:t>Séquence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13:30–15:00 • Écrire un bon prompt technique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Passer d’une demande vague à une spécification exploitable.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problème d’une demande vague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87580" cy="26289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 vague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44780" y="960120"/>
            <a:ext cx="7559540" cy="262890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Problèmes créés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89020"/>
            <a:ext cx="3687580" cy="26289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“Fais une classe C++ qui vérifie si le robot peut avancer.”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44780" y="3589020"/>
            <a:ext cx="7559540" cy="26289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Seuil de batterie inconnu ; états autorisés inconnus ; comportement capteur indisponible non précisé ; sortie de diagnostic absente ; tests non définis.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Anatomie du prompt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329184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01168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Contexte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201168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Système, objectif métier, module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2743200"/>
            <a:ext cx="12801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1618488"/>
            <a:ext cx="329184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2011680" cy="438912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Criticité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834640" y="2542032"/>
            <a:ext cx="2011680" cy="1234440"/>
          </a:xfrm>
          <a:prstGeom prst="rect">
            <a:avLst/>
          </a:prstGeom>
          <a:solidFill>
            <a:srgbClr val="FDEAEA"/>
          </a:solidFill>
          <a:ln>
            <a:solidFill>
              <a:srgbClr val="FDEA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Impact d’une erreur et niveau de contrôle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2743200"/>
            <a:ext cx="12801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618488"/>
            <a:ext cx="329184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1965960"/>
            <a:ext cx="201168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Entrées / sorties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74920" y="2542032"/>
            <a:ext cx="201168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Données disponibles et résultat attendu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743200"/>
            <a:ext cx="12801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0" y="1618488"/>
            <a:ext cx="329184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1965960"/>
            <a:ext cx="201168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Contraintes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0" y="2542032"/>
            <a:ext cx="201168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Règles métier + conventions C++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72600" y="2743200"/>
            <a:ext cx="128016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55480" y="1618488"/>
            <a:ext cx="329184" cy="292608"/>
          </a:xfrm>
          <a:prstGeom prst="rect">
            <a:avLst/>
          </a:prstGeom>
          <a:solidFill>
            <a:srgbClr val="F2994A"/>
          </a:solidFill>
          <a:ln>
            <a:solidFill>
              <a:srgbClr val="F299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55480" y="1965960"/>
            <a:ext cx="2011680" cy="4389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Tests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555480" y="2542032"/>
            <a:ext cx="2011680" cy="12344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Cas nominaux, refus, limites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technique : blocs indispensables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843790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300990" y="960120"/>
            <a:ext cx="4240717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541708" y="960120"/>
            <a:ext cx="5162612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84379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2300990" y="2011680"/>
            <a:ext cx="424071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quel système 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541708" y="2011680"/>
            <a:ext cx="516261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porte-palette, autorisation de mouvement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84379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300990" y="3063240"/>
            <a:ext cx="424071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Où se situe la modification 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541708" y="3063240"/>
            <a:ext cx="516261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Composant de décision / mission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84379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Criticité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300990" y="4114800"/>
            <a:ext cx="4240717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impact 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541708" y="4114800"/>
            <a:ext cx="516261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Élevée : mouvement inadmissible possible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1843790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300990" y="5166360"/>
            <a:ext cx="4240717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données 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541708" y="5166360"/>
            <a:ext cx="516261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Batterie, freins, capteur, erreur, mode</a:t>
            </a:r>
            <a:endParaRPr lang="en-US" sz="11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technique : blocs indispensables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028169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485369" y="960120"/>
            <a:ext cx="4056338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541708" y="960120"/>
            <a:ext cx="5162612" cy="1051560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2816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Sorties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2485369" y="2011680"/>
            <a:ext cx="40563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produire 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541708" y="2011680"/>
            <a:ext cx="516261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Autorisé/refusé + raison du refus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02816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Erreurs / limites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485369" y="3063240"/>
            <a:ext cx="405633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faire si l’info est incohérente 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541708" y="3063240"/>
            <a:ext cx="516261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et signaler la raison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02816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 C++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485369" y="4114800"/>
            <a:ext cx="405633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conventions 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541708" y="4114800"/>
            <a:ext cx="516261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C++17, enum class, pas de dépendance externe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2028169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/ acceptation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485369" y="5166360"/>
            <a:ext cx="4056338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juger 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541708" y="5166360"/>
            <a:ext cx="5162612" cy="105156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nominal + chaque refus + borne 20</a:t>
            </a:r>
            <a:endParaRPr lang="en-US" sz="11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Gabarit de prompt réutilisable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CONTEXTE : système, objectif, conséquence d’une erreur.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MODULE / PÉRIMÈTRE : ce que le code doit faire et ne pas faire.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ENTRÉES / SORTIES : types, sens, résultat attendu.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RÈGLES / CONTRAINTES : seuils, états, erreurs, conventions C++.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TESTS ATTENDUS : cas nominal, refus, limites, critères d’acceptation.</a:t>
            </a:r>
            <a:endParaRPr lang="en-US" sz="1870" dirty="0"/>
          </a:p>
          <a:p>
            <a:pPr marL="177800" indent="-177800">
              <a:buSzPct val="100000"/>
              <a:buChar char="•"/>
            </a:pPr>
            <a:r>
              <a:rPr lang="en-US" sz="1870" dirty="0">
                <a:solidFill>
                  <a:srgbClr val="152033"/>
                </a:solidFill>
              </a:rPr>
              <a:t>HYPOTHÈSES : lister ce qui manque avant de générer.</a:t>
            </a:r>
            <a:endParaRPr lang="en-US" sz="187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de prompt complet : autorisation de mouvement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11109960" cy="51663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porte-palette. On veut décider si un mouvement peut être autorisé.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 erreur peut autoriser un déplacement inadmissible.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Créer une petite politique de décision pure, sans accès hardware direct.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ENTRÉES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batteryPercent, brakesAvailable, frontSensorAvailable, criticalError, mode.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RÈGLES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batterie minimale : 20 %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freins disponibles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capteur frontal disponible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aucune erreur critique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robot en mode Idle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Décision autorisée/refusée + raison du refus.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 nominal, chaque refus, borne batteryPercent = 20.</a:t>
            </a:r>
            <a:endParaRPr lang="en-US" sz="12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Faire apparaître les hypothèses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Avant de générer le code, liste les informations manquantes ou ambiguës.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On enseigne à l’IA à ne pas remplir les trous métier à notre place.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transformer une demande vague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Point de départ : “Ajoute une fonction pour savoir si le robot peut partir.”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Objectif : produire un prompt complet avec contexte, criticité, entrées, sorties, règles et tests.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Contrainte : aucune valeur métier inventée sans justification.</a:t>
            </a:r>
            <a:endParaRPr lang="en-US" sz="1950" dirty="0"/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rgbClr val="152033"/>
                </a:solidFill>
              </a:rPr>
              <a:t>Restitution : chaque binôme défend ses critères d’acceptation.</a:t>
            </a:r>
            <a:endParaRPr lang="en-US" sz="1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Grille de correction du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489117" cy="657225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946317" y="960120"/>
            <a:ext cx="1659411" cy="657225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605728" y="960120"/>
            <a:ext cx="2212548" cy="657225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818276" y="960120"/>
            <a:ext cx="4886044" cy="657225"/>
          </a:xfrm>
          <a:prstGeom prst="rect">
            <a:avLst/>
          </a:prstGeom>
          <a:solidFill>
            <a:srgbClr val="F2994A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57200" y="1617345"/>
            <a:ext cx="2489117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/ module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946317" y="1617345"/>
            <a:ext cx="1659411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605728" y="1617345"/>
            <a:ext cx="221254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818276" y="1617345"/>
            <a:ext cx="4886044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 et périmètre explicites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57200" y="2274570"/>
            <a:ext cx="2489117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Criticité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946317" y="2274570"/>
            <a:ext cx="1659411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Absente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605728" y="2274570"/>
            <a:ext cx="221254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Mentionnée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18276" y="2274570"/>
            <a:ext cx="4886044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d’une erreur expliqué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57200" y="2931795"/>
            <a:ext cx="2489117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Entrées / sorties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946317" y="2931795"/>
            <a:ext cx="1659411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Floues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605728" y="2931795"/>
            <a:ext cx="221254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Incomplètes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818276" y="2931795"/>
            <a:ext cx="4886044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+ sens + sortie explicite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57200" y="3589020"/>
            <a:ext cx="2489117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946317" y="3589020"/>
            <a:ext cx="1659411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Générales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605728" y="3589020"/>
            <a:ext cx="221254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règles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818276" y="3589020"/>
            <a:ext cx="4886044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 testables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57200" y="4246245"/>
            <a:ext cx="2489117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d’erreur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946317" y="4246245"/>
            <a:ext cx="1659411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605728" y="4246245"/>
            <a:ext cx="221254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cas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818276" y="4246245"/>
            <a:ext cx="4886044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négatifs + limites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57200" y="4903470"/>
            <a:ext cx="2489117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946317" y="4903470"/>
            <a:ext cx="1659411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4605728" y="4903470"/>
            <a:ext cx="2212548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nominal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818276" y="4903470"/>
            <a:ext cx="4886044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+ refus + limite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57200" y="5560695"/>
            <a:ext cx="2489117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Acceptation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2946317" y="5560695"/>
            <a:ext cx="1659411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Subjective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605728" y="5560695"/>
            <a:ext cx="2212548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Partielle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818276" y="5560695"/>
            <a:ext cx="4886044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Critères vérifiables</a:t>
            </a:r>
            <a:endParaRPr lang="en-US" sz="10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Mini-synthèse séquence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bon prompt ne garantit pas une bonne solution ; il garantit une sortie plus facile à contrôler.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Le prompt est un outil de spécification, pas une preuve.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Séquence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15:00–16:30 • Générer une unité de code C++ et ses tests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Produire petit, explicite, testable et traçable.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Choix pédagogique : une politique de décision pure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49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57175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Entrées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257175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État du robot fourni au composant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1830" y="274320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394710" y="161848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94710" y="1965960"/>
            <a:ext cx="257175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Décision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394710" y="2542032"/>
            <a:ext cx="257175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Règles métier appliquées sans effet de bord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12180" y="274320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95060" y="161848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5060" y="1965960"/>
            <a:ext cx="257175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Sortie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95060" y="2542032"/>
            <a:ext cx="257175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Autorisé / refusé + raison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12530" y="274320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995410" y="161848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95410" y="1965960"/>
            <a:ext cx="2571750" cy="4389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Tests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995410" y="2542032"/>
            <a:ext cx="2571750" cy="12344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Chaque règle devient vérifiable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Entrées de la politique de décision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950064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7264" y="960120"/>
            <a:ext cx="2396927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pédagogique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4191" y="960120"/>
            <a:ext cx="5900129" cy="87630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29500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batteryPercent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07264" y="1836420"/>
            <a:ext cx="239692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4191" y="1836420"/>
            <a:ext cx="590012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de batterie déjà mesuré / fourni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295006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brakesAvailable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7264" y="2712720"/>
            <a:ext cx="239692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4191" y="2712720"/>
            <a:ext cx="590012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“freins disponibles” satisfaite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29500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frontSensorAvailable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7264" y="3589020"/>
            <a:ext cx="239692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4191" y="3589020"/>
            <a:ext cx="590012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Capteur frontal disponible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295006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criticalError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7264" y="4465320"/>
            <a:ext cx="2396927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4191" y="4465320"/>
            <a:ext cx="590012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Présence d’une erreur critique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295006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7264" y="5341620"/>
            <a:ext cx="2396927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RobotMode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4191" y="5341620"/>
            <a:ext cx="590012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logique ; seul Idle est admis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fragile : booléen compact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2057400"/>
            <a:ext cx="11109960" cy="18288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canMove(int battery, bool brakes, bool sensor, bool error, int mode)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battery &gt; 20 &amp;&amp; brakes &amp;&amp; sensor &amp;&amp; !error &amp;&amp; mode == 0;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Problèmes : seuil de borne suspect, nombre magique, pas de raison de refus, diagnostic impossible.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FRAGILE vs MIEUX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623560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FRAGILE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080760" y="960120"/>
            <a:ext cx="5623560" cy="1314450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57200" y="2274570"/>
            <a:ext cx="56235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canMove(25, true, false, false, 0) : il faut mémoriser la signification de chaque paramètre.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080760" y="2274570"/>
            <a:ext cx="56235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evaluate(status) : l’état est regroupé et la décision contient une raison explicite.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57200" y="3589020"/>
            <a:ext cx="562356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Renvoie seulement true / false.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080760" y="3589020"/>
            <a:ext cx="5623560" cy="131445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Renvoie allowed + denialReason.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7200" y="4903470"/>
            <a:ext cx="56235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== 0 : nombre magique.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080760" y="4903470"/>
            <a:ext cx="5623560" cy="13144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class RobotMode : sens lisible.</a:t>
            </a:r>
            <a:endParaRPr lang="en-US" sz="12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améliorée : types et raison de refus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11109960" cy="51663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RobotMode { Idle, Moving, Charging, Error 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MoveDenialReason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None,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BatteryTooLow,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BrakesUnavailable,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FrontSensorUnavailable,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CriticalError,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RobotNotIdle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RobotStatus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batteryPercent;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brakesAvailable;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frontSensorAvailable;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criticalError;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RobotMode mode;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MoveDecision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allowed;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MoveDenialReason reason;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Ordre des conditions : refuser explicitement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11109960" cy="51663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MoveDecision evaluate(const RobotStatus&amp; status)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(status.batteryPercent &lt; 20)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{false, MoveDenialReason::BatteryTooLow};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(!status.brakesAvailable)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{false, MoveDenialReason::BrakesUnavailable};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(!status.frontSensorAvailable)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{false, MoveDenialReason::FrontSensorUnavailable};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(status.criticalError)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{false, MoveDenialReason::CriticalError};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(status.mode != RobotMode::Idle)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{false, MoveDenialReason::RobotNotIdle};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{true, MoveDenialReason::None};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tests partent des règles, pas du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765685" cy="657225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</a:t>
            </a:r>
            <a:endParaRPr lang="en-US" sz="1070" dirty="0"/>
          </a:p>
        </p:txBody>
      </p:sp>
      <p:sp>
        <p:nvSpPr>
          <p:cNvPr id="7" name="Text 5"/>
          <p:cNvSpPr/>
          <p:nvPr/>
        </p:nvSpPr>
        <p:spPr>
          <a:xfrm>
            <a:off x="3222885" y="960120"/>
            <a:ext cx="3779770" cy="657225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7002655" y="960120"/>
            <a:ext cx="4701665" cy="657225"/>
          </a:xfrm>
          <a:prstGeom prst="rect">
            <a:avLst/>
          </a:prstGeom>
          <a:solidFill>
            <a:srgbClr val="2E7D32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457200" y="1617345"/>
            <a:ext cx="276568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Batterie minimale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3222885" y="1617345"/>
            <a:ext cx="377977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= 19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7002655" y="1617345"/>
            <a:ext cx="470166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: BatteryTooLow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57200" y="2274570"/>
            <a:ext cx="276568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Borne du seuil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3222885" y="2274570"/>
            <a:ext cx="3779770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= 20 + autres OK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7002655" y="2274570"/>
            <a:ext cx="470166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Autorisé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457200" y="2931795"/>
            <a:ext cx="276568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Freins disponibles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222885" y="2931795"/>
            <a:ext cx="377977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brakesAvailable = false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7002655" y="2931795"/>
            <a:ext cx="470166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: BrakesUnavailable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57200" y="3589020"/>
            <a:ext cx="276568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Capteur frontal disponible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222885" y="3589020"/>
            <a:ext cx="3779770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frontSensorAvailable = false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002655" y="3589020"/>
            <a:ext cx="470166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: FrontSensorUnavailable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457200" y="4246245"/>
            <a:ext cx="276568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d’erreur critique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3222885" y="4246245"/>
            <a:ext cx="377977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criticalError = true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7002655" y="4246245"/>
            <a:ext cx="470166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: CriticalError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457200" y="4903470"/>
            <a:ext cx="276568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Idle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222885" y="4903470"/>
            <a:ext cx="3779770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= Moving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7002655" y="4903470"/>
            <a:ext cx="4701665" cy="657225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: RobotNotIdle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457200" y="5560695"/>
            <a:ext cx="276568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nominal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3222885" y="5560695"/>
            <a:ext cx="3779770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 est satisfaisant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7002655" y="5560695"/>
            <a:ext cx="4701665" cy="657225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Autorisé : None</a:t>
            </a:r>
            <a:endParaRPr lang="en-US" sz="107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Extrait de tests avec assert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11109960" cy="51663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testBatteryTooLow()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RobotStatus status{19, true, true, false, RobotMode::Idle};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MoveDecision decision = MovementAuthorizationPolicy::evaluate(status);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assert(!decision.allowed);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assert(decision.reason == MoveDenialReason::BatteryTooLow);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testBoundaryBatteryAtTwentyIsAllowed()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RobotStatus status{20, true, true, false, RobotMode::Idle};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MoveDecision decision = MovementAuthorizationPolicy::evaluate(status);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assert(decision.allowed);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assert(decision.reason == MoveDenialReason::None);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Compilation et exécution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828800"/>
            <a:ext cx="11109960" cy="274320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-Wextra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-pedantic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main.cpp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robot_policy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./robot_policy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 attendu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tests passed</a:t>
            </a:r>
            <a:endParaRPr lang="en-US" sz="1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Faire travailler l’IA par itérations courtes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571750" cy="43891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1. Générer petit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94360" y="2496312"/>
            <a:ext cx="2571750" cy="123444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Une classe ou fonction avec contrat clair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1830" y="269748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394710" y="157276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94710" y="1920240"/>
            <a:ext cx="2571750" cy="438912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2. Vérifier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394710" y="2496312"/>
            <a:ext cx="2571750" cy="1234440"/>
          </a:xfrm>
          <a:prstGeom prst="rect">
            <a:avLst/>
          </a:prstGeom>
          <a:solidFill>
            <a:srgbClr val="EAF7EA"/>
          </a:solidFill>
          <a:ln>
            <a:solidFill>
              <a:srgbClr val="EAF7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Comparer au prompt et compiler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12180" y="269748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95060" y="157276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5060" y="1920240"/>
            <a:ext cx="2571750" cy="438912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3. Tester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95060" y="2496312"/>
            <a:ext cx="2571750" cy="1234440"/>
          </a:xfrm>
          <a:prstGeom prst="rect">
            <a:avLst/>
          </a:prstGeom>
          <a:solidFill>
            <a:srgbClr val="FFF3E6"/>
          </a:solidFill>
          <a:ln>
            <a:solidFill>
              <a:srgbClr val="FFF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Cas nominal, refus, limite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12530" y="2697480"/>
            <a:ext cx="128016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995410" y="1572768"/>
            <a:ext cx="329184" cy="29260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95410" y="1920240"/>
            <a:ext cx="2571750" cy="438912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033"/>
                </a:solidFill>
              </a:rPr>
              <a:t>4. Corriger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995410" y="2496312"/>
            <a:ext cx="2571750" cy="1234440"/>
          </a:xfrm>
          <a:prstGeom prst="rect">
            <a:avLst/>
          </a:prstGeom>
          <a:solidFill>
            <a:srgbClr val="F3F0FF"/>
          </a:solidFill>
          <a:ln>
            <a:solidFill>
              <a:srgbClr val="F3F0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A"/>
                </a:solidFill>
              </a:rPr>
              <a:t>Demander une amélioration ciblée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Pièges à injecter dans la démonstration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59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226633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Piège volontaire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3683833" y="960120"/>
            <a:ext cx="4056338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intéressant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740171" y="960120"/>
            <a:ext cx="3964149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attendue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457200" y="1711234"/>
            <a:ext cx="322663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&gt; 20 au lieu de &gt;= 20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3683833" y="1711234"/>
            <a:ext cx="405633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de borne discrète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7740171" y="1711234"/>
            <a:ext cx="396414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battery = 20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57200" y="2462349"/>
            <a:ext cx="322663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Oublier frontSensorAvailable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683833" y="2462349"/>
            <a:ext cx="405633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Omission d’exigence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740171" y="2462349"/>
            <a:ext cx="396414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règle → branche → test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57200" y="3213463"/>
            <a:ext cx="322663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== 0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683833" y="3213463"/>
            <a:ext cx="405633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magique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7740171" y="3213463"/>
            <a:ext cx="396414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 class RobotMode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57200" y="3964577"/>
            <a:ext cx="322663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Renvoie seulement bool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683833" y="3964577"/>
            <a:ext cx="405633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faible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740171" y="3964577"/>
            <a:ext cx="396414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MoveDecision avec raison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457200" y="4715691"/>
            <a:ext cx="3226633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uniquement nominal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683833" y="4715691"/>
            <a:ext cx="4056338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 jamais exercés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740171" y="4715691"/>
            <a:ext cx="396414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par condition + borne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457200" y="5466806"/>
            <a:ext cx="3226633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Inventer seuil 30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3683833" y="5466806"/>
            <a:ext cx="4056338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métier non fournie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7740171" y="5466806"/>
            <a:ext cx="396414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ou demander clarification</a:t>
            </a:r>
            <a:endParaRPr lang="en-US" sz="103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: corriger une sortie IA non conforme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Donner une version où le capteur frontal est oublié.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Demander au groupe : quelle contrainte manque ? quel test échouerait ?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Faire ajouter la branche de refus et le test associé.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Faire verbaliser : “quelle ligne du prompt justifie cette ligne de code ?”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Mini-synthèse séquence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ne vérifie pas une sortie IA en demandant seulement si elle compile.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On la compare au contrat et on la force à passer des tests significatifs.</a:t>
            </a:r>
            <a:endParaRPr lang="en-US" sz="1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132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Séquence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16:30–17:30 • Revue IA + revue humaine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9D6E2"/>
                </a:solidFill>
              </a:rPr>
              <a:t>Utiliser l’IA pour relire sans lui donner l’autorité.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5120640"/>
            <a:ext cx="10332720" cy="0"/>
          </a:xfrm>
          <a:prstGeom prst="line">
            <a:avLst/>
          </a:prstGeom>
          <a:noFill/>
          <a:ln w="19050">
            <a:solidFill>
              <a:srgbClr val="385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349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 fil conducteur : accélérer la production sans transférer la décision à l’IA.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faire une revue IA si elle n’est pas l’autorité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Elle peut repérer des oublis, proposer des cas limites et reformuler des risques.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Elle peut aider à préparer une checklist de revue.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Elle ne connaît pas automatiquement le vrai contexte industriel.</a:t>
            </a:r>
            <a:endParaRPr lang="en-US" sz="2050" dirty="0"/>
          </a:p>
          <a:p>
            <a:pPr marL="177800" indent="-177800">
              <a:buSzPct val="100000"/>
              <a:buChar char="•"/>
            </a:pPr>
            <a:r>
              <a:rPr lang="en-US" sz="2050" dirty="0">
                <a:solidFill>
                  <a:srgbClr val="152033"/>
                </a:solidFill>
              </a:rPr>
              <a:t>Elle ne décide pas : elle fournit des pistes à vérifier.</a:t>
            </a:r>
            <a:endParaRPr lang="en-US" sz="2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de revue utile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11109960" cy="516636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Relis cette unité C++ à partir des critères suivants.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Compare le code aux contraintes métier fournies.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Liste les hypothèses que le code semble faire.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Repère les cas limites non testés.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Signale les valeurs métier inventées ou non justifiées.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Propose des tests supplémentaires.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Ne conclue pas que le code est sûr : donne seulement des points à vérifier.</a:t>
            </a:r>
            <a:endParaRPr lang="en-US" sz="162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Matrice : suggestion / vérification / décision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71959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 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29159" y="960120"/>
            <a:ext cx="4793854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indépendante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23014" y="960120"/>
            <a:ext cx="2581306" cy="876300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humaine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364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“Le seuil devrait être 30.”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29159" y="1836420"/>
            <a:ext cx="47938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besoin fixe 20 ; aucune source ne donne 30.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23014" y="1836420"/>
            <a:ext cx="258130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712720"/>
            <a:ext cx="387195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“Ajouter un test à la borne 20.”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29159" y="2712720"/>
            <a:ext cx="479385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code compare un seuil ; la borne est risquée.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23014" y="2712720"/>
            <a:ext cx="258130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890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“Remplacer enum class par int.”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9159" y="3589020"/>
            <a:ext cx="47938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 de sens sans besoin de compatibilité.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23014" y="3589020"/>
            <a:ext cx="258130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65320"/>
            <a:ext cx="3871959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raison de refus capteur n’est pas testée.”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29159" y="4465320"/>
            <a:ext cx="4793854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vérifie seulement allowed == false.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23014" y="4465320"/>
            <a:ext cx="2581306" cy="876300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 / ACCEPTER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341620"/>
            <a:ext cx="3871959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“Fusionner les conditions.”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29159" y="5341620"/>
            <a:ext cx="4793854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Lisibilité et diagnostic diminuent.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23014" y="5341620"/>
            <a:ext cx="2581306" cy="8763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ici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dangereux : le style peut distraire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554480"/>
            <a:ext cx="11109960" cy="2377440"/>
          </a:xfrm>
          <a:prstGeom prst="rect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canStart(const RobotStatus&amp; s)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(s.batteryPercent &gt; 20 &amp;&amp; s.brakesAvailable &amp;&amp; !s.criticalError) 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Ce code semble simple, mais il oublie le capteur frontal, le mode Idle, la raison de refus et la borne 20.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double revue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765685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3222885" y="960120"/>
            <a:ext cx="3687580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IA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6910466" y="960120"/>
            <a:ext cx="4793854" cy="751114"/>
          </a:xfrm>
          <a:prstGeom prst="rect">
            <a:avLst/>
          </a:prstGeom>
          <a:solidFill>
            <a:srgbClr val="C6282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humaine / preuve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457200" y="1711234"/>
            <a:ext cx="27656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 présentes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3222885" y="1711234"/>
            <a:ext cx="368758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signaler des omissions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6910466" y="1711234"/>
            <a:ext cx="47938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ligne par ligne au ticket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57200" y="2462349"/>
            <a:ext cx="27656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métier justifiées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222885" y="2462349"/>
            <a:ext cx="368758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lister les constantes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910466" y="2462349"/>
            <a:ext cx="47938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la source officielle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57200" y="3213463"/>
            <a:ext cx="27656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limites couverts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222885" y="3213463"/>
            <a:ext cx="368758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suggérer des tests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910466" y="3213463"/>
            <a:ext cx="47938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les limites et exécuter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57200" y="3964577"/>
            <a:ext cx="27656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 négatif sûr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3222885" y="3964577"/>
            <a:ext cx="368758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repérer branches manquantes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910466" y="3964577"/>
            <a:ext cx="47938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l’effet réel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57200" y="4715691"/>
            <a:ext cx="2765685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exécutés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222885" y="4715691"/>
            <a:ext cx="3687580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générer les tests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910466" y="4715691"/>
            <a:ext cx="4793854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/ exécuter localement ou CI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457200" y="5466806"/>
            <a:ext cx="2765685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finale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3222885" y="5466806"/>
            <a:ext cx="3687580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autorité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910466" y="5466806"/>
            <a:ext cx="4793854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Accepté / modifié / refusé</a:t>
            </a:r>
            <a:endParaRPr lang="en-US" sz="104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Atelier final J1 : accepter, modifier ou refuser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Lire une liste de suggestions IA.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Pour chaque suggestion : écrire la vérification indépendante.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Décider : accepter, modifier ou refuser.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52033"/>
                </a:solidFill>
              </a:rPr>
              <a:t>Justifier avec une preuve : contrainte, test, compilation, règle interne ou hypothèse manquante.</a:t>
            </a:r>
            <a:endParaRPr lang="en-US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de fin de J1 : cinq compétences à verbaliser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69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10789920" cy="4846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40" dirty="0">
                <a:solidFill>
                  <a:srgbClr val="152033"/>
                </a:solidFill>
              </a:rPr>
              <a:t>Je distingue assistance, génération et validation.</a:t>
            </a:r>
            <a:endParaRPr lang="en-US" sz="2040" dirty="0"/>
          </a:p>
          <a:p>
            <a:pPr marL="177800" indent="-177800">
              <a:buSzPct val="100000"/>
              <a:buChar char="•"/>
            </a:pPr>
            <a:r>
              <a:rPr lang="en-US" sz="2040" dirty="0">
                <a:solidFill>
                  <a:srgbClr val="152033"/>
                </a:solidFill>
              </a:rPr>
              <a:t>Je qualifie la criticité avant d’utiliser l’IA.</a:t>
            </a:r>
            <a:endParaRPr lang="en-US" sz="2040" dirty="0"/>
          </a:p>
          <a:p>
            <a:pPr marL="177800" indent="-177800">
              <a:buSzPct val="100000"/>
              <a:buChar char="•"/>
            </a:pPr>
            <a:r>
              <a:rPr lang="en-US" sz="2040" dirty="0">
                <a:solidFill>
                  <a:srgbClr val="152033"/>
                </a:solidFill>
              </a:rPr>
              <a:t>Je rédige un prompt technique contrôlable.</a:t>
            </a:r>
            <a:endParaRPr lang="en-US" sz="2040" dirty="0"/>
          </a:p>
          <a:p>
            <a:pPr marL="177800" indent="-177800">
              <a:buSzPct val="100000"/>
              <a:buChar char="•"/>
            </a:pPr>
            <a:r>
              <a:rPr lang="en-US" sz="2040" dirty="0">
                <a:solidFill>
                  <a:srgbClr val="152033"/>
                </a:solidFill>
              </a:rPr>
              <a:t>Je trace une contrainte vers le code et vers un test.</a:t>
            </a:r>
            <a:endParaRPr lang="en-US" sz="2040" dirty="0"/>
          </a:p>
          <a:p>
            <a:pPr marL="177800" indent="-177800">
              <a:buSzPct val="100000"/>
              <a:buChar char="•"/>
            </a:pPr>
            <a:r>
              <a:rPr lang="en-US" sz="2040" dirty="0">
                <a:solidFill>
                  <a:srgbClr val="152033"/>
                </a:solidFill>
              </a:rPr>
              <a:t>Je prends une décision humaine après vérification indépendante.</a:t>
            </a:r>
            <a:endParaRPr lang="en-US" sz="204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Glossaire express J1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028169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2485369" y="960120"/>
            <a:ext cx="9218951" cy="751114"/>
          </a:xfrm>
          <a:prstGeom prst="rect">
            <a:avLst/>
          </a:prstGeom>
          <a:solidFill>
            <a:srgbClr val="26A6A6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Définition simple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57200" y="1711234"/>
            <a:ext cx="202816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2485369" y="1711234"/>
            <a:ext cx="92189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capable de générer ou transformer du texte et du code à partir d’instructions.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2462349"/>
            <a:ext cx="202816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2485369" y="2462349"/>
            <a:ext cx="92189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donnée à l’assistant ; ici, une spécification courte et contrôlable.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457200" y="3213463"/>
            <a:ext cx="202816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Criticité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485369" y="3213463"/>
            <a:ext cx="92189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de conséquence possible d’une erreur et besoin de contrôle associé.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57200" y="3964577"/>
            <a:ext cx="202816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2485369" y="3964577"/>
            <a:ext cx="92189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et mécanismes visant à empêcher des comportements dangereux.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457200" y="4715691"/>
            <a:ext cx="2028169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2485369" y="4715691"/>
            <a:ext cx="9218951" cy="75111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de démontrer qu’un résultat respecte des critères définis.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57200" y="5466806"/>
            <a:ext cx="2028169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485369" y="5466806"/>
            <a:ext cx="9218951" cy="751114"/>
          </a:xfrm>
          <a:prstGeom prst="rect">
            <a:avLst/>
          </a:prstGeom>
          <a:solidFill>
            <a:srgbClr val="F1F4F8"/>
          </a:solidFill>
          <a:ln w="6350">
            <a:solidFill>
              <a:srgbClr val="D0D7E2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5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 à reconstruire pourquoi une décision a été prise.</a:t>
            </a:r>
            <a:endParaRPr lang="en-US" sz="114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A6"/>
          </a:solidFill>
          <a:ln w="12700">
            <a:solidFill>
              <a:srgbClr val="26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retenir pour demain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J1 • IA + C++ industriel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75720" y="63185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71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J2 partira de cette base : utiliser l’IA pour mieux synchroniser l’équipe, pas pour travailler plus vite en silo.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148840" y="3703320"/>
            <a:ext cx="7955280" cy="0"/>
          </a:xfrm>
          <a:prstGeom prst="line">
            <a:avLst/>
          </a:prstGeom>
          <a:noFill/>
          <a:ln w="25400">
            <a:solidFill>
              <a:srgbClr val="2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5B677A"/>
                </a:solidFill>
              </a:rPr>
              <a:t>Même principe : expliciter, contrôler, tracer.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J1 - Comprendre, cadrer et utiliser l’IA correctement en C++ industriel</dc:title>
  <dc:subject>Support de cours J1 - IA, Copilot et C++ industriel</dc:subject>
  <dc:creator>OpenAI</dc:creator>
  <cp:lastModifiedBy>OpenAI</cp:lastModifiedBy>
  <cp:revision>1</cp:revision>
  <dcterms:created xsi:type="dcterms:W3CDTF">2026-09-13T17:50:03Z</dcterms:created>
  <dcterms:modified xsi:type="dcterms:W3CDTF">2026-09-13T17:50:03Z</dcterms:modified>
</cp:coreProperties>
</file>