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85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1FF"/>
                </a:solidFill>
              </a:rPr>
              <a:t>Support de cours • Slides J3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307592"/>
            <a:ext cx="10881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Copilot, VS Code, licences, CI et mise en pratique complète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D7E2EA"/>
                </a:solidFill>
              </a:rPr>
              <a:t>Instructions dépôt • Tasks VS Code • SPDX • Dependency Review • PR • Atelier ROBOT-247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3232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Objectif : mettre en place un environnement IA contrôlé et un parcours de validation complet.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5669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</a:rPr>
              <a:t>J3 • 7 h 30 • 09:00–17:30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Progression du J3 : règles, outils, PR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123237" cy="475488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Copilot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404872"/>
            <a:ext cx="2123237" cy="112471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Règles dépôt et instructions ciblées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2662733" y="2542032"/>
            <a:ext cx="73152" cy="0"/>
          </a:xfrm>
          <a:prstGeom prst="line">
            <a:avLst/>
          </a:prstGeom>
          <a:noFill/>
          <a:ln w="2159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772461" y="146304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72461" y="1828800"/>
            <a:ext cx="2123237" cy="47548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VS Code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72461" y="2404872"/>
            <a:ext cx="2123237" cy="11247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Build, tests, scan licence en tâches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4932274" y="2542032"/>
            <a:ext cx="73152" cy="0"/>
          </a:xfrm>
          <a:prstGeom prst="line">
            <a:avLst/>
          </a:prstGeom>
          <a:noFill/>
          <a:ln w="2159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42002" y="146304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42002" y="1828800"/>
            <a:ext cx="2123237" cy="475488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Licences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42002" y="2404872"/>
            <a:ext cx="2123237" cy="1124712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SPDX et validation avant dépendance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7201814" y="2542032"/>
            <a:ext cx="73152" cy="0"/>
          </a:xfrm>
          <a:prstGeom prst="line">
            <a:avLst/>
          </a:prstGeom>
          <a:noFill/>
          <a:ln w="2159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1542" y="146304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1542" y="1828800"/>
            <a:ext cx="2123237" cy="47548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Dependency Review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1542" y="2404872"/>
            <a:ext cx="2123237" cy="11247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Contrôle en pull request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9471355" y="2542032"/>
            <a:ext cx="73152" cy="0"/>
          </a:xfrm>
          <a:prstGeom prst="line">
            <a:avLst/>
          </a:prstGeom>
          <a:noFill/>
          <a:ln w="2159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81083" y="146304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81083" y="1828800"/>
            <a:ext cx="2123237" cy="47548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Atelier final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81083" y="2404872"/>
            <a:ext cx="2123237" cy="11247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Ticket complet ROBOT-247</a:t>
            </a:r>
            <a:endParaRPr lang="en-US" sz="1170" dirty="0"/>
          </a:p>
        </p:txBody>
      </p:sp>
      <p:sp>
        <p:nvSpPr>
          <p:cNvPr id="25" name="Text 23"/>
          <p:cNvSpPr/>
          <p:nvPr/>
        </p:nvSpPr>
        <p:spPr>
          <a:xfrm>
            <a:off x="822960" y="53218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033"/>
                </a:solidFill>
              </a:rPr>
              <a:t>Le J3 transforme les règles de J1/J2 en environnement contrôlé.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 J3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345523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Horaire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1802723" y="960120"/>
            <a:ext cx="2412661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Séquence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4215384" y="960120"/>
            <a:ext cx="4593336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centrale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8808720" y="960120"/>
            <a:ext cx="2923032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457200" y="1836420"/>
            <a:ext cx="1345523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09:00–10:15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1802723" y="1836420"/>
            <a:ext cx="241266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Paramétrage Copilot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4215384" y="1836420"/>
            <a:ext cx="459333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donner à l’IA des règles stables ?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8808720" y="1836420"/>
            <a:ext cx="292303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 dépôt + ciblées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457200" y="2712720"/>
            <a:ext cx="1345523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10:15–11:30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1802723" y="2712720"/>
            <a:ext cx="241266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Paramétrage VS Code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215384" y="2712720"/>
            <a:ext cx="459333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lancer build, tests et licence avant PR ?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8808720" y="2712720"/>
            <a:ext cx="292303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settings.json + tasks.json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457200" y="3589020"/>
            <a:ext cx="1345523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11:30–12:30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1802723" y="3589020"/>
            <a:ext cx="241266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 de licences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4215384" y="3589020"/>
            <a:ext cx="459333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décider si une dépendance entre ?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8808720" y="3589020"/>
            <a:ext cx="292303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Matrice + classification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457200" y="4465320"/>
            <a:ext cx="1345523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13:30–15:30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1802723" y="4465320"/>
            <a:ext cx="241266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Review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4215384" y="4465320"/>
            <a:ext cx="459333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automatiser le contrôle dans la PR ?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808720" y="4465320"/>
            <a:ext cx="292303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+ analyse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457200" y="5341620"/>
            <a:ext cx="1345523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15:30–17:30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1802723" y="5341620"/>
            <a:ext cx="241266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Atelier final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4215384" y="5341620"/>
            <a:ext cx="459333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traiter un ticket de bout en bout ?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8808720" y="5341620"/>
            <a:ext cx="292303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+ PR simulée + revue</a:t>
            </a:r>
            <a:endParaRPr lang="en-US" sz="9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trois niveaux de contrôle à distinguer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764712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2221912" y="960120"/>
            <a:ext cx="3137267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5359179" y="960120"/>
            <a:ext cx="3137267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8496446" y="960120"/>
            <a:ext cx="3235306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457200" y="2274570"/>
            <a:ext cx="176471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2221912" y="2274570"/>
            <a:ext cx="3137267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Prompt, instructions Copilot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5359179" y="2274570"/>
            <a:ext cx="3137267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Rappelle le contexte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8496446" y="2274570"/>
            <a:ext cx="3235306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être mal interprété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57200" y="3589020"/>
            <a:ext cx="1764712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locale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2221912" y="3589020"/>
            <a:ext cx="3137267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build/test/scan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5359179" y="3589020"/>
            <a:ext cx="3137267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rapide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8496446" y="3589020"/>
            <a:ext cx="3235306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être oubliée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57200" y="4903470"/>
            <a:ext cx="176471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Enforcement CI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2221912" y="4903470"/>
            <a:ext cx="3137267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PR, checks requis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5359179" y="4903470"/>
            <a:ext cx="3137267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 reproductible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8496446" y="4903470"/>
            <a:ext cx="3235306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Doit être maintenu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Schéma : trois niveaux de contrôle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46120" y="2743200"/>
            <a:ext cx="1143000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26680" y="2743200"/>
            <a:ext cx="1143000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2514600" cy="475488"/>
          </a:xfrm>
          <a:prstGeom prst="rect">
            <a:avLst/>
          </a:prstGeom>
          <a:solidFill>
            <a:srgbClr val="F3F0FF"/>
          </a:solidFill>
          <a:ln w="13970">
            <a:solidFill>
              <a:srgbClr val="7B61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B61FF"/>
                </a:solidFill>
              </a:rPr>
              <a:t>1. Guidance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450592"/>
            <a:ext cx="2514600" cy="100584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52033"/>
                </a:solidFill>
              </a:rPr>
              <a:t>prompt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52033"/>
                </a:solidFill>
              </a:rPr>
              <a:t>instructions Copilot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17720" y="1828800"/>
            <a:ext cx="2514600" cy="475488"/>
          </a:xfrm>
          <a:prstGeom prst="rect">
            <a:avLst/>
          </a:prstGeom>
          <a:solidFill>
            <a:srgbClr val="EAF3FF"/>
          </a:solidFill>
          <a:ln w="13970">
            <a:solidFill>
              <a:srgbClr val="2F80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80ED"/>
                </a:solidFill>
              </a:rPr>
              <a:t>2. Vérification locale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450592"/>
            <a:ext cx="2514600" cy="10058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52033"/>
                </a:solidFill>
              </a:rPr>
              <a:t>build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52033"/>
                </a:solidFill>
              </a:rPr>
              <a:t>tests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52033"/>
                </a:solidFill>
              </a:rPr>
              <a:t>scan licence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915400" y="1828800"/>
            <a:ext cx="2514600" cy="475488"/>
          </a:xfrm>
          <a:prstGeom prst="rect">
            <a:avLst/>
          </a:prstGeom>
          <a:solidFill>
            <a:srgbClr val="EAF7EA"/>
          </a:solidFill>
          <a:ln w="13970">
            <a:solidFill>
              <a:srgbClr val="2E7D3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3. Enforcement CI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15400" y="2450592"/>
            <a:ext cx="2514600" cy="100584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52033"/>
                </a:solidFill>
              </a:rPr>
              <a:t>PR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52033"/>
                </a:solidFill>
              </a:rPr>
              <a:t>checks requis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52033"/>
                </a:solidFill>
              </a:rPr>
              <a:t>blocage merge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80160" y="4709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2033"/>
                </a:solidFill>
              </a:rPr>
              <a:t>Plus on avance vers la droite, moins on dépend de la mémoire individuelle.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Phrase à faire retenir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36192"/>
            <a:ext cx="106984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conseille. Les tests vérifient. La CI impose les contrôles décidés par l’équipe.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A"/>
                </a:solidFill>
              </a:rPr>
              <a:t>Un fichier d’instructions aide, mais il ne produit pas une preuve.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</a:rPr>
              <a:t>Séquence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09:00–10:15 • Paramétrage Copilot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</a:rPr>
              <a:t>Transformer les règles d’équipe en contexte persistant pour l’assistant IA.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transformer les règles d’équipe en preuves vérifiables avant merge.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paramétrer Copilot ?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40" dirty="0">
                <a:solidFill>
                  <a:srgbClr val="152033"/>
                </a:solidFill>
              </a:rPr>
              <a:t>Sans configuration, chaque conversation redémarre avec un contexte incomplet.</a:t>
            </a:r>
            <a:endParaRPr lang="en-US" sz="1940" dirty="0"/>
          </a:p>
          <a:p>
            <a:pPr marL="177800" indent="-177800">
              <a:buSzPct val="100000"/>
              <a:buChar char="•"/>
            </a:pPr>
            <a:r>
              <a:rPr lang="en-US" sz="1940" dirty="0">
                <a:solidFill>
                  <a:srgbClr val="152033"/>
                </a:solidFill>
              </a:rPr>
              <a:t>Le modèle ne connaît pas spontanément la version C++, les frontières du dépôt ou les commandes du projet.</a:t>
            </a:r>
            <a:endParaRPr lang="en-US" sz="1940" dirty="0"/>
          </a:p>
          <a:p>
            <a:pPr marL="177800" indent="-177800">
              <a:buSzPct val="100000"/>
              <a:buChar char="•"/>
            </a:pPr>
            <a:r>
              <a:rPr lang="en-US" sz="1940" dirty="0">
                <a:solidFill>
                  <a:srgbClr val="152033"/>
                </a:solidFill>
              </a:rPr>
              <a:t>Les instructions rendent explicites les règles durables : architecture, sécurité, tests, licences.</a:t>
            </a:r>
            <a:endParaRPr lang="en-US" sz="1940" dirty="0"/>
          </a:p>
          <a:p>
            <a:pPr marL="177800" indent="-177800">
              <a:buSzPct val="100000"/>
              <a:buChar char="•"/>
            </a:pPr>
            <a:r>
              <a:rPr lang="en-US" sz="1940" dirty="0">
                <a:solidFill>
                  <a:srgbClr val="152033"/>
                </a:solidFill>
              </a:rPr>
              <a:t>Elles réduisent les suggestions hors cadre, sans devenir une garantie technique.</a:t>
            </a:r>
            <a:endParaRPr lang="en-US" sz="1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mettre dans les instructions de dépôt ?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180675" cy="751114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2637875" y="960120"/>
            <a:ext cx="4222157" cy="751114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6860032" y="960120"/>
            <a:ext cx="4871720" cy="751114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457200" y="1711234"/>
            <a:ext cx="218067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architectural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2637875" y="1711234"/>
            <a:ext cx="4222157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 de traverser les mauvaises frontières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860032" y="1711234"/>
            <a:ext cx="487172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ne lit pas directement le driver moteur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57200" y="2462349"/>
            <a:ext cx="218067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C++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637875" y="2462349"/>
            <a:ext cx="4222157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 une syntaxe non supportée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860032" y="2462349"/>
            <a:ext cx="487172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en C++17, ne pas supposer C++20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57200" y="3213463"/>
            <a:ext cx="218067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et tests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2637875" y="3213463"/>
            <a:ext cx="4222157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 la validation cohérente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860032" y="3213463"/>
            <a:ext cx="487172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et tests doivent réussir avant PR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57200" y="3964577"/>
            <a:ext cx="218067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safety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2637875" y="3964577"/>
            <a:ext cx="4222157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Rappelle la validation humaine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860032" y="3964577"/>
            <a:ext cx="487172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modification safety sans ticket dédié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457200" y="4715691"/>
            <a:ext cx="218067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Erreurs explicites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2637875" y="4715691"/>
            <a:ext cx="4222157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Stabilise les contrats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860032" y="4715691"/>
            <a:ext cx="487172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le booléen ambigu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457200" y="5466806"/>
            <a:ext cx="218067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2637875" y="5466806"/>
            <a:ext cx="4222157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 les ajouts improvisés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6860032" y="5466806"/>
            <a:ext cx="487172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dépendance externe sans validation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: .github/copilot-instructions.md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Project instructions - pallet robot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## Scope and architecture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The project targets C++17.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Keep business rules inside mission/navigation modules.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Do not access hardware drivers directly from mission code.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## Safety and dependencies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Do not change safety rules without a dedicated ticket.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Do not add external dependencies without approval.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When unsure, state assumptions explicitly.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## Validation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Suggest tests for success and refusal cases.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Never claim code is validated without build/test evidence.</a:t>
            </a:r>
            <a:endParaRPr lang="en-US" sz="11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c’est mieux que “écris du bon C++” ?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10" dirty="0">
                <a:solidFill>
                  <a:srgbClr val="152033"/>
                </a:solidFill>
              </a:rPr>
              <a:t>Le conseil générique ne dit rien sur le projet réel.</a:t>
            </a:r>
            <a:endParaRPr lang="en-US" sz="1910" dirty="0"/>
          </a:p>
          <a:p>
            <a:pPr marL="177800" indent="-177800">
              <a:buSzPct val="100000"/>
              <a:buChar char="•"/>
            </a:pPr>
            <a:r>
              <a:rPr lang="en-US" sz="1910" dirty="0">
                <a:solidFill>
                  <a:srgbClr val="152033"/>
                </a:solidFill>
              </a:rPr>
              <a:t>Les règles de dépôt décrivent des décisions contrôlables : version, frontières, tests, dépendances.</a:t>
            </a:r>
            <a:endParaRPr lang="en-US" sz="1910" dirty="0"/>
          </a:p>
          <a:p>
            <a:pPr marL="177800" indent="-177800">
              <a:buSzPct val="100000"/>
              <a:buChar char="•"/>
            </a:pPr>
            <a:r>
              <a:rPr lang="en-US" sz="1910" dirty="0">
                <a:solidFill>
                  <a:srgbClr val="152033"/>
                </a:solidFill>
              </a:rPr>
              <a:t>Elles demandent de signaler l’incertitude au lieu de la masquer.</a:t>
            </a:r>
            <a:endParaRPr lang="en-US" sz="1910" dirty="0"/>
          </a:p>
          <a:p>
            <a:pPr marL="177800" indent="-177800">
              <a:buSzPct val="100000"/>
              <a:buChar char="•"/>
            </a:pPr>
            <a:r>
              <a:rPr lang="en-US" sz="1910" dirty="0">
                <a:solidFill>
                  <a:srgbClr val="152033"/>
                </a:solidFill>
              </a:rPr>
              <a:t>Elles ne remplacent ni le compilateur, ni les tests, ni la revue, ni la CI.</a:t>
            </a:r>
            <a:endParaRPr lang="en-US" sz="19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Instructions globales et instructions ciblées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7B61FF"/>
                </a:solidFill>
              </a:rPr>
              <a:t>Instruction de dépôt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7512" y="1563624"/>
            <a:ext cx="5202936" cy="4471416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S’applique au projet dans son ensemble.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Porte les règles durables.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Exemples : version C++, architecture, validation, dépendances.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F80ED"/>
                </a:solidFill>
              </a:rPr>
              <a:t>Instruction ciblée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18504" y="1563624"/>
            <a:ext cx="5202936" cy="4471416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S’applique à certains fichiers ou chemins.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Précise les attentes pour un type de code.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52033"/>
                </a:solidFill>
              </a:rPr>
              <a:t>Exemples : src/**/*.cpp, tests/**/*.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Instruction ciblée : C++ production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---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name: C++ module rules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description: Rules for production C++ source files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applyTo: "src/**/*.cpp"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---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Prefer explicit result types over ambiguous booleans.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Keep hardware access behind adapters.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Do not introduce global mutable state.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Add tests for boundary values and refusal cases.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Explain any safety-related assumption.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Instruction ciblée : tests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---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name: Test rules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description: Rules for tests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applyTo: "tests/**/*"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---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Name the business rule tested by each test.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Cover success and failure paths.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Add one boundary test when thresholds are involved.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Do not mock a safety decision to make a test pass.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Keep tests readable for code review.</a:t>
            </a:r>
            <a:endParaRPr lang="en-US" sz="12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Revue IA : formulation fragile puis mieux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C62828"/>
                </a:solidFill>
              </a:rPr>
              <a:t>Fragile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7512" y="1563624"/>
            <a:ext cx="5202936" cy="4471416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“Review this PR and tell me if it is good.”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Le mot “good” n’a aucun critère.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La réponse peut ignorer les unités, erreurs, timeouts ou frontières safety.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E7D32"/>
                </a:solidFill>
              </a:rPr>
              <a:t>Mieux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18504" y="1563624"/>
            <a:ext cx="5202936" cy="4471416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“Review interface compatibility, units, timeouts, error handling, safety boundaries and missing tests.”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Les catégories de risque sont nommées.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La revue devient vérifiable.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 fondamentale des instructions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36192"/>
            <a:ext cx="106984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instruction Copilot est une guidance, pas un mécanisme d’enforcement.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A"/>
                </a:solidFill>
              </a:rPr>
              <a:t>On vérifie par compilation, tests, revue humaine et CI.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Bon prompt dans un dépôt déjà configuré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398841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Dans le prompt</a:t>
            </a:r>
            <a:endParaRPr lang="en-US" sz="990" dirty="0"/>
          </a:p>
        </p:txBody>
      </p:sp>
      <p:sp>
        <p:nvSpPr>
          <p:cNvPr id="7" name="Text 5"/>
          <p:cNvSpPr/>
          <p:nvPr/>
        </p:nvSpPr>
        <p:spPr>
          <a:xfrm>
            <a:off x="2856041" y="960120"/>
            <a:ext cx="3502308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</a:t>
            </a:r>
            <a:endParaRPr lang="en-US" sz="990" dirty="0"/>
          </a:p>
        </p:txBody>
      </p:sp>
      <p:sp>
        <p:nvSpPr>
          <p:cNvPr id="8" name="Text 6"/>
          <p:cNvSpPr/>
          <p:nvPr/>
        </p:nvSpPr>
        <p:spPr>
          <a:xfrm>
            <a:off x="6358348" y="960120"/>
            <a:ext cx="5373404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457200" y="1836420"/>
            <a:ext cx="239884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 précis</a:t>
            </a:r>
            <a:endParaRPr lang="en-US" sz="990" dirty="0"/>
          </a:p>
        </p:txBody>
      </p:sp>
      <p:sp>
        <p:nvSpPr>
          <p:cNvPr id="10" name="Text 8"/>
          <p:cNvSpPr/>
          <p:nvPr/>
        </p:nvSpPr>
        <p:spPr>
          <a:xfrm>
            <a:off x="2856041" y="1836420"/>
            <a:ext cx="350230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 une réponse trop large</a:t>
            </a:r>
            <a:endParaRPr lang="en-US" sz="990" dirty="0"/>
          </a:p>
        </p:txBody>
      </p:sp>
      <p:sp>
        <p:nvSpPr>
          <p:cNvPr id="11" name="Text 9"/>
          <p:cNvSpPr/>
          <p:nvPr/>
        </p:nvSpPr>
        <p:spPr>
          <a:xfrm>
            <a:off x="6358348" y="1836420"/>
            <a:ext cx="537340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MotionResult pour distinguer les refus</a:t>
            </a:r>
            <a:endParaRPr lang="en-US" sz="990" dirty="0"/>
          </a:p>
        </p:txBody>
      </p:sp>
      <p:sp>
        <p:nvSpPr>
          <p:cNvPr id="12" name="Text 10"/>
          <p:cNvSpPr/>
          <p:nvPr/>
        </p:nvSpPr>
        <p:spPr>
          <a:xfrm>
            <a:off x="457200" y="2712720"/>
            <a:ext cx="239884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Fichiers concernés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2856041" y="2712720"/>
            <a:ext cx="350230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Cadre la zone de changement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6358348" y="2712720"/>
            <a:ext cx="537340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uniquement ; ne pas modifier Safety</a:t>
            </a:r>
            <a:endParaRPr lang="en-US" sz="990" dirty="0"/>
          </a:p>
        </p:txBody>
      </p:sp>
      <p:sp>
        <p:nvSpPr>
          <p:cNvPr id="15" name="Text 13"/>
          <p:cNvSpPr/>
          <p:nvPr/>
        </p:nvSpPr>
        <p:spPr>
          <a:xfrm>
            <a:off x="457200" y="3589020"/>
            <a:ext cx="239884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Critères d’acceptation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2856041" y="3589020"/>
            <a:ext cx="350230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 le résultat vérifiable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6358348" y="3589020"/>
            <a:ext cx="537340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Anciens cas verts + deux nouveaux tests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457200" y="4465320"/>
            <a:ext cx="239884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Contraintes / interdits</a:t>
            </a:r>
            <a:endParaRPr lang="en-US" sz="990" dirty="0"/>
          </a:p>
        </p:txBody>
      </p:sp>
      <p:sp>
        <p:nvSpPr>
          <p:cNvPr id="19" name="Text 17"/>
          <p:cNvSpPr/>
          <p:nvPr/>
        </p:nvSpPr>
        <p:spPr>
          <a:xfrm>
            <a:off x="2856041" y="4465320"/>
            <a:ext cx="350230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 les raccourcis</a:t>
            </a:r>
            <a:endParaRPr lang="en-US" sz="990" dirty="0"/>
          </a:p>
        </p:txBody>
      </p:sp>
      <p:sp>
        <p:nvSpPr>
          <p:cNvPr id="20" name="Text 18"/>
          <p:cNvSpPr/>
          <p:nvPr/>
        </p:nvSpPr>
        <p:spPr>
          <a:xfrm>
            <a:off x="6358348" y="4465320"/>
            <a:ext cx="537340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nouvelle dépendance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457200" y="5341620"/>
            <a:ext cx="239884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 de preuve</a:t>
            </a:r>
            <a:endParaRPr lang="en-US" sz="990" dirty="0"/>
          </a:p>
        </p:txBody>
      </p:sp>
      <p:sp>
        <p:nvSpPr>
          <p:cNvPr id="22" name="Text 20"/>
          <p:cNvSpPr/>
          <p:nvPr/>
        </p:nvSpPr>
        <p:spPr>
          <a:xfrm>
            <a:off x="2856041" y="5341620"/>
            <a:ext cx="350230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 proposition et validation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6358348" y="5341620"/>
            <a:ext cx="537340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Indiquer commandes et tests exécutés</a:t>
            </a:r>
            <a:endParaRPr lang="en-US" sz="9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 programming assisté par IA : rôles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848287" cy="105156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05487" y="960120"/>
            <a:ext cx="4713132" cy="105156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18620" y="960120"/>
            <a:ext cx="4713132" cy="105156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848287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Cadrer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05487" y="2011680"/>
            <a:ext cx="471313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Décrit besoin, contexte, criticité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18620" y="2011680"/>
            <a:ext cx="471313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des questions ou reformule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1848287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05487" y="3063240"/>
            <a:ext cx="471313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Choisit le niveau de délégation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18620" y="3063240"/>
            <a:ext cx="471313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Produit solution ou variantes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1848287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05487" y="4114800"/>
            <a:ext cx="471313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Compile, teste, compare au contrat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18620" y="4114800"/>
            <a:ext cx="471313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Cherche des cas manquants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1848287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Décider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05487" y="5166360"/>
            <a:ext cx="471313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Accepte, modifie ou rejette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18620" y="5166360"/>
            <a:ext cx="471313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N’est pas l’autorité finale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améliorer les instructions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Point de départ volontairement vague : “Write clean modern C++ and be safe.”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Objectif : remplacer par des règles projet contrôlables.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Livrable : une première version courte de fichier d’instructions.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Attention : ne pas déléguer l’approbation safety à l’IA.</a:t>
            </a:r>
            <a:endParaRPr lang="en-US" sz="1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attendue : instructions utiles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Une frontière architecturale explicite.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Une version C++ déclarée.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Une règle sur build, tests et preuve.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Une interdiction d’ajout silencieux de dépendance.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Une règle sur contrats, unités, timeouts ou erreurs.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Une demande de signalement de l’incertitude.</a:t>
            </a:r>
            <a:endParaRPr lang="en-US" sz="18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Séquence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10:15–11:30 • Paramétrage VS Code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</a:rPr>
              <a:t>Rendre les contrôles locaux faciles à lancer avant une pull request.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transformer les règles d’équipe en preuves vérifiables avant merge.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versionner une partie de la configuration ?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40" dirty="0">
                <a:solidFill>
                  <a:srgbClr val="152033"/>
                </a:solidFill>
              </a:rPr>
              <a:t>L’objectif n’est pas d’imposer les goûts personnels de chacun.</a:t>
            </a:r>
            <a:endParaRPr lang="en-US" sz="1940" dirty="0"/>
          </a:p>
          <a:p>
            <a:pPr marL="177800" indent="-177800">
              <a:buSzPct val="100000"/>
              <a:buChar char="•"/>
            </a:pPr>
            <a:r>
              <a:rPr lang="en-US" sz="1940" dirty="0">
                <a:solidFill>
                  <a:srgbClr val="152033"/>
                </a:solidFill>
              </a:rPr>
              <a:t>L’objectif est de rendre les opérations projet visibles et reproductibles.</a:t>
            </a:r>
            <a:endParaRPr lang="en-US" sz="1940" dirty="0"/>
          </a:p>
          <a:p>
            <a:pPr marL="177800" indent="-177800">
              <a:buSzPct val="100000"/>
              <a:buChar char="•"/>
            </a:pPr>
            <a:r>
              <a:rPr lang="en-US" sz="1940" dirty="0">
                <a:solidFill>
                  <a:srgbClr val="152033"/>
                </a:solidFill>
              </a:rPr>
              <a:t>Un nouvel arrivant doit trouver rapidement : build, tests, scan licence.</a:t>
            </a:r>
            <a:endParaRPr lang="en-US" sz="1940" dirty="0"/>
          </a:p>
          <a:p>
            <a:pPr marL="177800" indent="-177800">
              <a:buSzPct val="100000"/>
              <a:buChar char="•"/>
            </a:pPr>
            <a:r>
              <a:rPr lang="en-US" sz="1940" dirty="0">
                <a:solidFill>
                  <a:srgbClr val="152033"/>
                </a:solidFill>
              </a:rPr>
              <a:t>La configuration VS Code doit rester une façade vers les vraies commandes du dépôt.</a:t>
            </a:r>
            <a:endParaRPr lang="en-US" sz="19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: .vscode/settings.json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"files.insertFinalNewline": true,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"files.trimTrailingWhitespace": true,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"editor.formatOnSave": true,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"C_Cpp.default.cppStandard": "c++17",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"github.copilot.chat.codeGeneration.instructions": [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{ "text": "Respect repository instructions and ask for clarification on safety assumptions." }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]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11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Nuance importante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36192"/>
            <a:ext cx="106984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réglage VS Code n’est pas une règle critique de sécurité.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A"/>
                </a:solidFill>
              </a:rPr>
              <a:t>Les paramètres dépendent de VS Code et des extensions ; la preuve vient des outils exécutés.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tasks.json : champs à faire lire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672073" cy="751114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29273" y="960120"/>
            <a:ext cx="2914185" cy="751114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Rôle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43458" y="960120"/>
            <a:ext cx="6688294" cy="751114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formateur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11234"/>
            <a:ext cx="167207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29273" y="1711234"/>
            <a:ext cx="291418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visible de la tâche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43458" y="1711234"/>
            <a:ext cx="668829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nouvel arrivant comprend-il quoi lancer 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462349"/>
            <a:ext cx="167207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29273" y="2462349"/>
            <a:ext cx="291418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 ou process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43458" y="2462349"/>
            <a:ext cx="668829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A-t-on besoin du shell 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213463"/>
            <a:ext cx="167207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29273" y="3213463"/>
            <a:ext cx="291418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exécuté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43458" y="3213463"/>
            <a:ext cx="668829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Est-ce la même commande que dans la CI 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964577"/>
            <a:ext cx="167207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29273" y="3964577"/>
            <a:ext cx="291418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Arguments séparés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43458" y="3964577"/>
            <a:ext cx="668829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chemins avec espaces restent-ils robustes 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715691"/>
            <a:ext cx="167207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29273" y="4715691"/>
            <a:ext cx="291418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build/test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43458" y="4715691"/>
            <a:ext cx="668829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Peut-on déclencher le build par défaut 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5466806"/>
            <a:ext cx="167207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problemMatcher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29273" y="5466806"/>
            <a:ext cx="291418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Diagnostics VS Code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43458" y="5466806"/>
            <a:ext cx="668829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Existe-t-il un matcher pertinent ?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: tâches build / test / licence / pre-PR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"version": "2.0.0",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"tasks": [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{ "label": "robot: build", "type": "shell",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"command": "./scripts/build.sh", "group": "build" },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{ "label": "robot: test", "type": "shell",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"command": "./scripts/test.sh", "group": "test" },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{ "label": "robot: license-scan", "type": "shell",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"command": "./scripts/check-licenses.sh" },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{ "label": "robot: pre-PR", "dependsOrder": "sequence",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"dependsOn": ["robot: build", "robot: test", "robot: license-scan"] }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]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9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Chaîne locale avant PR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123237" cy="47548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Build local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2123237" cy="11247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Compiler réellement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2662733" y="2633472"/>
            <a:ext cx="73152" cy="0"/>
          </a:xfrm>
          <a:prstGeom prst="line">
            <a:avLst/>
          </a:prstGeom>
          <a:noFill/>
          <a:ln w="2159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772461" y="155448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72461" y="1920240"/>
            <a:ext cx="2123237" cy="47548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Tests locaux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72461" y="2496312"/>
            <a:ext cx="2123237" cy="11247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Prouver succès et refus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4932274" y="2633472"/>
            <a:ext cx="73152" cy="0"/>
          </a:xfrm>
          <a:prstGeom prst="line">
            <a:avLst/>
          </a:prstGeom>
          <a:noFill/>
          <a:ln w="2159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42002" y="155448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42002" y="1920240"/>
            <a:ext cx="2123237" cy="475488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Contrôle licence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42002" y="2496312"/>
            <a:ext cx="2123237" cy="1124712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Vérifier dépendance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7201814" y="2633472"/>
            <a:ext cx="73152" cy="0"/>
          </a:xfrm>
          <a:prstGeom prst="line">
            <a:avLst/>
          </a:prstGeom>
          <a:noFill/>
          <a:ln w="2159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1542" y="155448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1542" y="1920240"/>
            <a:ext cx="2123237" cy="47548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Ouvrir PR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1542" y="2496312"/>
            <a:ext cx="2123237" cy="11247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Décrire impacts + preuves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9471355" y="2633472"/>
            <a:ext cx="73152" cy="0"/>
          </a:xfrm>
          <a:prstGeom prst="line">
            <a:avLst/>
          </a:prstGeom>
          <a:noFill/>
          <a:ln w="21590">
            <a:solidFill>
              <a:srgbClr val="2F80ED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81083" y="1554480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81083" y="1920240"/>
            <a:ext cx="2123237" cy="475488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CI partagée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81083" y="2496312"/>
            <a:ext cx="2123237" cy="112471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Rejouer les contrôles</a:t>
            </a:r>
            <a:endParaRPr lang="en-US" sz="1170" dirty="0"/>
          </a:p>
        </p:txBody>
      </p:sp>
      <p:sp>
        <p:nvSpPr>
          <p:cNvPr id="25" name="Text 23"/>
          <p:cNvSpPr/>
          <p:nvPr/>
        </p:nvSpPr>
        <p:spPr>
          <a:xfrm>
            <a:off x="822960" y="53218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033"/>
                </a:solidFill>
              </a:rPr>
              <a:t>Une phrase “ça devrait passer” ne vaut pas une preuve.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Attention à la divergence local / CI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C62828"/>
                </a:solidFill>
              </a:rPr>
              <a:t>Risque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7512" y="1563624"/>
            <a:ext cx="5202936" cy="4471416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La tâche locale compile en Debug.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La CI compile en Release.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Les warnings sont traités différemment.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Le développeur croit avoir prouvé, mais il n’a pas prouvé la même chose.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E7D32"/>
                </a:solidFill>
              </a:rPr>
              <a:t>Mieux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18504" y="1563624"/>
            <a:ext cx="5202936" cy="4471416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Appeler les mêmes scripts canoniques.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Aligner options et versions outils.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Documenter clairement les commandes.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Laisser la CI rejouer dans un environnement partagé.</a:t>
            </a:r>
            <a:endParaRPr lang="en-US" sz="15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construire le parcours local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rgbClr val="152033"/>
                </a:solidFill>
              </a:rPr>
              <a:t>À partir des trois contrôles demandés : build, tests, scan licence.</a:t>
            </a:r>
            <a:endParaRPr lang="en-US" sz="1950" dirty="0"/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rgbClr val="152033"/>
                </a:solidFill>
              </a:rPr>
              <a:t>Dessiner un parcours de lancement local avant PR.</a:t>
            </a:r>
            <a:endParaRPr lang="en-US" sz="1950" dirty="0"/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rgbClr val="152033"/>
                </a:solidFill>
              </a:rPr>
              <a:t>Nommer les tâches de manière compréhensible.</a:t>
            </a:r>
            <a:endParaRPr lang="en-US" sz="1950" dirty="0"/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rgbClr val="152033"/>
                </a:solidFill>
              </a:rPr>
              <a:t>Identifier les commandes réelles à brancher dans le canevas.</a:t>
            </a:r>
            <a:endParaRPr lang="en-US" sz="1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attendue : parcours local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40" dirty="0">
                <a:solidFill>
                  <a:srgbClr val="152033"/>
                </a:solidFill>
              </a:rPr>
              <a:t>Quatre labels clairs : build, test, licence, pre-PR.</a:t>
            </a:r>
            <a:endParaRPr lang="en-US" sz="1840" dirty="0"/>
          </a:p>
          <a:p>
            <a:pPr marL="177800" indent="-177800">
              <a:buSzPct val="100000"/>
              <a:buChar char="•"/>
            </a:pPr>
            <a:r>
              <a:rPr lang="en-US" sz="1840" dirty="0">
                <a:solidFill>
                  <a:srgbClr val="152033"/>
                </a:solidFill>
              </a:rPr>
              <a:t>Build, test et licence exécutables séparément.</a:t>
            </a:r>
            <a:endParaRPr lang="en-US" sz="1840" dirty="0"/>
          </a:p>
          <a:p>
            <a:pPr marL="177800" indent="-177800">
              <a:buSzPct val="100000"/>
              <a:buChar char="•"/>
            </a:pPr>
            <a:r>
              <a:rPr lang="en-US" sz="1840" dirty="0">
                <a:solidFill>
                  <a:srgbClr val="152033"/>
                </a:solidFill>
              </a:rPr>
              <a:t>Une tâche composée avec ordre défini.</a:t>
            </a:r>
            <a:endParaRPr lang="en-US" sz="1840" dirty="0"/>
          </a:p>
          <a:p>
            <a:pPr marL="177800" indent="-177800">
              <a:buSzPct val="100000"/>
              <a:buChar char="•"/>
            </a:pPr>
            <a:r>
              <a:rPr lang="en-US" sz="1840" dirty="0">
                <a:solidFill>
                  <a:srgbClr val="152033"/>
                </a:solidFill>
              </a:rPr>
              <a:t>Aucune logique métier cachée dans VS Code si elle existe déjà dans un script de dépôt.</a:t>
            </a:r>
            <a:endParaRPr lang="en-US" sz="1840" dirty="0"/>
          </a:p>
          <a:p>
            <a:pPr marL="177800" indent="-177800">
              <a:buSzPct val="100000"/>
              <a:buChar char="•"/>
            </a:pPr>
            <a:r>
              <a:rPr lang="en-US" sz="1840" dirty="0">
                <a:solidFill>
                  <a:srgbClr val="152033"/>
                </a:solidFill>
              </a:rPr>
              <a:t>Les commandes réelles sont identifiées.</a:t>
            </a:r>
            <a:endParaRPr lang="en-US" sz="18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D6A400"/>
          </a:solidFill>
          <a:ln w="12700">
            <a:solidFill>
              <a:srgbClr val="D6A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A400"/>
                </a:solidFill>
              </a:rPr>
              <a:t>Séquence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11:30–12:30 • Politique de licences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</a:rPr>
              <a:t>Comprendre qu’une dépendance est aussi un engagement de conformité.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transformer les règles d’équipe en preuves vérifiables avant merge.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400"/>
          </a:solidFill>
          <a:ln w="12700">
            <a:solidFill>
              <a:srgbClr val="D6A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dépendance n’est jamais “gratuite” organisationnellement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Même sans coût d’achat, une bibliothèque crée des obligations.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Il faut suivre sa maintenance, ses vulnérabilités, sa compatibilité et sa licence.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Dans un produit industriel, ajouter une dépendance est une décision d’équipe.</a:t>
            </a:r>
            <a:endParaRPr lang="en-US" sz="1920" dirty="0"/>
          </a:p>
          <a:p>
            <a:pPr marL="177800" indent="-177800">
              <a:buSzPct val="100000"/>
              <a:buChar char="•"/>
            </a:pPr>
            <a:r>
              <a:rPr lang="en-US" sz="1920" dirty="0">
                <a:solidFill>
                  <a:srgbClr val="152033"/>
                </a:solidFill>
              </a:rPr>
              <a:t>Le développeur peut proposer ; il ne valide pas seul.</a:t>
            </a:r>
            <a:endParaRPr lang="en-US" sz="19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Trois familles de licences : lecture pédagogique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777730" cy="1314450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Famille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2234930" y="960120"/>
            <a:ext cx="2806942" cy="1314450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Idée simple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5041873" y="960120"/>
            <a:ext cx="3789372" cy="1314450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Conséquence pratique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831245" y="960120"/>
            <a:ext cx="2900507" cy="1314450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 à vérifier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457200" y="2274570"/>
            <a:ext cx="177773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Permissive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2234930" y="2274570"/>
            <a:ext cx="280694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Réutilisation large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5041873" y="2274570"/>
            <a:ext cx="378937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Souvent plus simple, notices à respecter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831245" y="2274570"/>
            <a:ext cx="2900507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MIT, BSD, Apache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457200" y="3589020"/>
            <a:ext cx="1777730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Copyleft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2234930" y="3589020"/>
            <a:ext cx="2806942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Obligations de partage selon le cas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5041873" y="3589020"/>
            <a:ext cx="3789372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juridique nécessaire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8831245" y="3589020"/>
            <a:ext cx="2900507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Famille GPL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57200" y="4903470"/>
            <a:ext cx="177773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 copyleft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2234930" y="4903470"/>
            <a:ext cx="280694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Portée souvent plus ciblée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041873" y="4903470"/>
            <a:ext cx="378937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 du mode d’intégration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8831245" y="4903470"/>
            <a:ext cx="2900507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LGPL / MPL selon cas</a:t>
            </a:r>
            <a:endParaRPr lang="en-US" sz="96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400"/>
          </a:solidFill>
          <a:ln w="12700">
            <a:solidFill>
              <a:srgbClr val="D6A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 pédagogique licences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36192"/>
            <a:ext cx="106984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Ces familles aident à trier. Elles ne remplacent jamais l’analyse juridique.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D6A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A"/>
                </a:solidFill>
              </a:rPr>
              <a:t>Le rôle du développeur est d’identifier, documenter et déclencher la validation.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400"/>
          </a:solidFill>
          <a:ln w="12700">
            <a:solidFill>
              <a:srgbClr val="D6A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SPDX : nommer sans ambiguïté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Exemple d’identifiant SPDX dans un fichier source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SPDX-License-Identifier: MIT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L’identifiant nomme précisément une licence.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Il ne dit pas, à lui seul, si l’entreprise autorise son usage.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400"/>
          </a:solidFill>
          <a:ln w="12700">
            <a:solidFill>
              <a:srgbClr val="D6A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Permissive ne veut pas dire “aucune obligation”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C62828"/>
                </a:solidFill>
              </a:rPr>
              <a:t>Confusion fréquente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7512" y="1563624"/>
            <a:ext cx="5202936" cy="4471416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“C’est permissif, donc on fait ce qu’on veut.”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Cette phrase gomme les notices, copyrights ou conditions de redistribution.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Elle transforme un raccourci pédagogique en erreur de conformité.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E7D32"/>
                </a:solidFill>
              </a:rPr>
              <a:t>Bonne formulation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18504" y="1563624"/>
            <a:ext cx="5202936" cy="4471416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“C’est potentiellement plus simple, mais on vérifie l’identifiant exact et les obligations.”</a:t>
            </a:r>
            <a:endParaRPr lang="en-US" sz="1520" dirty="0"/>
          </a:p>
          <a:p>
            <a:pPr marL="152400" indent="-152400">
              <a:buSzPct val="100000"/>
              <a:buChar char="•"/>
            </a:pPr>
            <a:r>
              <a:rPr lang="en-US" sz="1520" dirty="0">
                <a:solidFill>
                  <a:srgbClr val="152033"/>
                </a:solidFill>
              </a:rPr>
              <a:t>On conserve les preuves dans la proposition de dépendance.</a:t>
            </a:r>
            <a:endParaRPr lang="en-US" sz="15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Fiche de proposition de dépendance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126556" cy="657225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à fournir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583756" y="960120"/>
            <a:ext cx="8147996" cy="657225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457200" y="1617345"/>
            <a:ext cx="312655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+ version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3583756" y="1617345"/>
            <a:ext cx="814799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 exactement le composant évalué.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457200" y="2274570"/>
            <a:ext cx="312655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officielle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3583756" y="2274570"/>
            <a:ext cx="814799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les paquets homonymes ou non officiels.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57200" y="2931795"/>
            <a:ext cx="312655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 SPDX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3583756" y="2931795"/>
            <a:ext cx="814799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Permet contrôle automatique et lecture politique.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57200" y="3589020"/>
            <a:ext cx="312655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prévu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3583756" y="3589020"/>
            <a:ext cx="814799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test ou runtime n’ont pas le même impact.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57200" y="4246245"/>
            <a:ext cx="312655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sans dépendance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3583756" y="4246245"/>
            <a:ext cx="814799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 si le coût est justifié.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57200" y="4903470"/>
            <a:ext cx="312655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interne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3583756" y="4903470"/>
            <a:ext cx="8147996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Quelqu’un assume le suivi.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457200" y="5560695"/>
            <a:ext cx="312655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juridique/sécurité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3583756" y="5560695"/>
            <a:ext cx="8147996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 développement et conformité.</a:t>
            </a:r>
            <a:endParaRPr lang="en-US" sz="103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400"/>
          </a:solidFill>
          <a:ln w="12700">
            <a:solidFill>
              <a:srgbClr val="D6A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classer des dépendances fictives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80" dirty="0">
                <a:solidFill>
                  <a:srgbClr val="152033"/>
                </a:solidFill>
              </a:rPr>
              <a:t>Classer chaque dépendance : A potentiellement acceptable, B validation obligatoire, C informations insuffisantes, D refusée.</a:t>
            </a:r>
            <a:endParaRPr lang="en-US" sz="1880" dirty="0"/>
          </a:p>
          <a:p>
            <a:pPr marL="177800" indent="-177800">
              <a:buSzPct val="100000"/>
              <a:buChar char="•"/>
            </a:pPr>
            <a:r>
              <a:rPr lang="en-US" sz="1880" dirty="0">
                <a:solidFill>
                  <a:srgbClr val="152033"/>
                </a:solidFill>
              </a:rPr>
              <a:t>Ne pas se contenter du mot “open source”.</a:t>
            </a:r>
            <a:endParaRPr lang="en-US" sz="1880" dirty="0"/>
          </a:p>
          <a:p>
            <a:pPr marL="177800" indent="-177800">
              <a:buSzPct val="100000"/>
              <a:buChar char="•"/>
            </a:pPr>
            <a:r>
              <a:rPr lang="en-US" sz="1880" dirty="0">
                <a:solidFill>
                  <a:srgbClr val="152033"/>
                </a:solidFill>
              </a:rPr>
              <a:t>Justifier avec licence, usage, données disponibles et politique interne.</a:t>
            </a:r>
            <a:endParaRPr lang="en-US" sz="1880" dirty="0"/>
          </a:p>
          <a:p>
            <a:pPr marL="177800" indent="-177800">
              <a:buSzPct val="100000"/>
              <a:buChar char="•"/>
            </a:pPr>
            <a:r>
              <a:rPr lang="en-US" sz="1880" dirty="0">
                <a:solidFill>
                  <a:srgbClr val="152033"/>
                </a:solidFill>
              </a:rPr>
              <a:t>But : apprendre à déclencher la bonne décision, pas jouer au juriste.</a:t>
            </a:r>
            <a:endParaRPr lang="en-US" sz="18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Dépendances fictives à classer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830431" cy="876300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287631" y="960120"/>
            <a:ext cx="2405867" cy="876300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 déclarée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5693498" y="960120"/>
            <a:ext cx="1981302" cy="876300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7674800" y="960120"/>
            <a:ext cx="4056952" cy="876300"/>
          </a:xfrm>
          <a:prstGeom prst="rect">
            <a:avLst/>
          </a:prstGeom>
          <a:solidFill>
            <a:srgbClr val="D6A400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57200" y="1836420"/>
            <a:ext cx="283043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TelemetryLite 2.1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3287631" y="1836420"/>
            <a:ext cx="2405867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693498" y="1836420"/>
            <a:ext cx="198130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674800" y="1836420"/>
            <a:ext cx="405695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Source, version, notice disponibles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57200" y="2712720"/>
            <a:ext cx="283043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PathPlannerPro 5.0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287631" y="2712720"/>
            <a:ext cx="2405867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GPL-3.0-only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693498" y="2712720"/>
            <a:ext cx="198130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produit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674800" y="2712720"/>
            <a:ext cx="405695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 identifiée, usage propriétaire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57200" y="3589020"/>
            <a:ext cx="283043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TestHelpers 1.4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287631" y="3589020"/>
            <a:ext cx="2405867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Apache-2.0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693498" y="3589020"/>
            <a:ext cx="198130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674800" y="3589020"/>
            <a:ext cx="405695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et licence identifiées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57200" y="4465320"/>
            <a:ext cx="283043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FastMathX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287631" y="4465320"/>
            <a:ext cx="2405867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“open source”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693498" y="4465320"/>
            <a:ext cx="198130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674800" y="4465320"/>
            <a:ext cx="405695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d’identifiant SPDX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57200" y="5341620"/>
            <a:ext cx="283043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LegacyComms 3.8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3287631" y="5341620"/>
            <a:ext cx="2405867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LGPL-2.1-only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5693498" y="5341620"/>
            <a:ext cx="198130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7674800" y="5341620"/>
            <a:ext cx="405695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Liaison/distribution non documentées</a:t>
            </a:r>
            <a:endParaRPr lang="en-US" sz="9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pédagogique : classement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331026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2788226" y="960120"/>
            <a:ext cx="3044605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pédagogique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5832830" y="960120"/>
            <a:ext cx="5898922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</a:t>
            </a:r>
            <a:endParaRPr lang="en-US" sz="910" dirty="0"/>
          </a:p>
        </p:txBody>
      </p:sp>
      <p:sp>
        <p:nvSpPr>
          <p:cNvPr id="9" name="Text 7"/>
          <p:cNvSpPr/>
          <p:nvPr/>
        </p:nvSpPr>
        <p:spPr>
          <a:xfrm>
            <a:off x="457200" y="1836420"/>
            <a:ext cx="233102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TelemetryLite</a:t>
            </a:r>
            <a:endParaRPr lang="en-US" sz="910" dirty="0"/>
          </a:p>
        </p:txBody>
      </p:sp>
      <p:sp>
        <p:nvSpPr>
          <p:cNvPr id="10" name="Text 8"/>
          <p:cNvSpPr/>
          <p:nvPr/>
        </p:nvSpPr>
        <p:spPr>
          <a:xfrm>
            <a:off x="2788226" y="1836420"/>
            <a:ext cx="3044605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Potentiellement acceptable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5832830" y="1836420"/>
            <a:ext cx="589892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+ données disponibles, sous réserve politique réelle.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457200" y="2712720"/>
            <a:ext cx="233102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PathPlannerPro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226" y="2712720"/>
            <a:ext cx="3044605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/ refus probable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5832830" y="2712720"/>
            <a:ext cx="589892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GPL runtime lié à produit propriétaire : ne pas intégrer automatiquement.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457200" y="3589020"/>
            <a:ext cx="233102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TestHelpers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2788226" y="3589020"/>
            <a:ext cx="3044605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vérifier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5832830" y="3589020"/>
            <a:ext cx="589892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test mieux cadré, obligations à vérifier.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457200" y="4465320"/>
            <a:ext cx="233102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FastMathX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2788226" y="4465320"/>
            <a:ext cx="3044605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Insuffisant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5832830" y="4465320"/>
            <a:ext cx="589892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“Open source” n’est pas un identifiant.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457200" y="5341620"/>
            <a:ext cx="233102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LegacyComms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2788226" y="5341620"/>
            <a:ext cx="3044605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Insuffisant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5832830" y="5341620"/>
            <a:ext cx="589892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de liaison et redistribution à clarifier.</a:t>
            </a:r>
            <a:endParaRPr lang="en-US" sz="91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</a:rPr>
              <a:t>Séquence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13:30–15:30 • GitHub Dependency Review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</a:rPr>
              <a:t>Contrôler automatiquement dépendances, licences et vulnérabilités dans une PR.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transformer les règles d’équipe en preuves vérifiables avant merge.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Qu’est-ce que la Dependency Review ?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10" dirty="0">
                <a:solidFill>
                  <a:srgbClr val="152033"/>
                </a:solidFill>
              </a:rPr>
              <a:t>Elle compare les dépendances entre l’état de référence et la pull request.</a:t>
            </a:r>
            <a:endParaRPr lang="en-US" sz="1910" dirty="0"/>
          </a:p>
          <a:p>
            <a:pPr marL="177800" indent="-177800">
              <a:buSzPct val="100000"/>
              <a:buChar char="•"/>
            </a:pPr>
            <a:r>
              <a:rPr lang="en-US" sz="1910" dirty="0">
                <a:solidFill>
                  <a:srgbClr val="152033"/>
                </a:solidFill>
              </a:rPr>
              <a:t>Elle aide à repérer une dépendance ajoutée, une licence problématique ou une vulnérabilité connue.</a:t>
            </a:r>
            <a:endParaRPr lang="en-US" sz="1910" dirty="0"/>
          </a:p>
          <a:p>
            <a:pPr marL="177800" indent="-177800">
              <a:buSzPct val="100000"/>
              <a:buChar char="•"/>
            </a:pPr>
            <a:r>
              <a:rPr lang="en-US" sz="1910" dirty="0">
                <a:solidFill>
                  <a:srgbClr val="152033"/>
                </a:solidFill>
              </a:rPr>
              <a:t>Elle répond à une question simple : “qu’est-ce que cette PR introduit dans le produit ?”</a:t>
            </a:r>
            <a:endParaRPr lang="en-US" sz="1910" dirty="0"/>
          </a:p>
          <a:p>
            <a:pPr marL="177800" indent="-177800">
              <a:buSzPct val="100000"/>
              <a:buChar char="•"/>
            </a:pPr>
            <a:r>
              <a:rPr lang="en-US" sz="1910" dirty="0">
                <a:solidFill>
                  <a:srgbClr val="152033"/>
                </a:solidFill>
              </a:rPr>
              <a:t>Elle produit un signal de contrôle visible dans la PR.</a:t>
            </a:r>
            <a:endParaRPr lang="en-US" sz="191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Dependency Review ne fait pas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70" dirty="0">
                <a:solidFill>
                  <a:srgbClr val="152033"/>
                </a:solidFill>
              </a:rPr>
              <a:t>Elle ne juge pas si la dépendance est utile architecturalement.</a:t>
            </a:r>
            <a:endParaRPr lang="en-US" sz="1970" dirty="0"/>
          </a:p>
          <a:p>
            <a:pPr marL="177800" indent="-177800">
              <a:buSzPct val="100000"/>
              <a:buChar char="•"/>
            </a:pPr>
            <a:r>
              <a:rPr lang="en-US" sz="1970" dirty="0">
                <a:solidFill>
                  <a:srgbClr val="152033"/>
                </a:solidFill>
              </a:rPr>
              <a:t>Elle ne remplace pas la validation juridique sur les cas ambigus.</a:t>
            </a:r>
            <a:endParaRPr lang="en-US" sz="1970" dirty="0"/>
          </a:p>
          <a:p>
            <a:pPr marL="177800" indent="-177800">
              <a:buSzPct val="100000"/>
              <a:buChar char="•"/>
            </a:pPr>
            <a:r>
              <a:rPr lang="en-US" sz="1970" dirty="0">
                <a:solidFill>
                  <a:srgbClr val="152033"/>
                </a:solidFill>
              </a:rPr>
              <a:t>Elle ne garantit pas qu’une bibliothèque restera sans vulnérabilité future.</a:t>
            </a:r>
            <a:endParaRPr lang="en-US" sz="1970" dirty="0"/>
          </a:p>
          <a:p>
            <a:pPr marL="177800" indent="-177800">
              <a:buSzPct val="100000"/>
              <a:buChar char="•"/>
            </a:pPr>
            <a:r>
              <a:rPr lang="en-US" sz="1970" dirty="0">
                <a:solidFill>
                  <a:srgbClr val="152033"/>
                </a:solidFill>
              </a:rPr>
              <a:t>Elle ne valide pas le comportement C++ du robot.</a:t>
            </a:r>
            <a:endParaRPr lang="en-US" sz="197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pédagogique : Dependency Review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name: Dependency Review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pull_request: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permissions: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contents: read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jobs: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review-dependencies: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runs-on: ubuntu-latest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steps: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- name: Dependency Review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uses: actions/dependency-review-action@v4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with: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fail-on-severity: moderate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deny-licenses: GPL-3.0-only, AGPL-3.0-only</a:t>
            </a:r>
            <a:endParaRPr lang="en-US" sz="107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ligne par ligne du workflow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758184" cy="751114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Élément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4215384" y="960120"/>
            <a:ext cx="7516368" cy="751114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 pédagogique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457200" y="1711234"/>
            <a:ext cx="375818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on: pull_request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4215384" y="1711234"/>
            <a:ext cx="751636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contrôle se déclenche sur une proposition de changement.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457200" y="2462349"/>
            <a:ext cx="375818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permissions: contents: read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4215384" y="2462349"/>
            <a:ext cx="751636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job lit le contenu nécessaire.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57200" y="3213463"/>
            <a:ext cx="375818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runs-on: ubuntu-latest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4215384" y="3213463"/>
            <a:ext cx="751636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Exécution dans un environnement CI partagé.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57200" y="3964577"/>
            <a:ext cx="375818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uses: actions/dependency-review-action@v4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215384" y="3964577"/>
            <a:ext cx="751636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de revue des dépendances.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57200" y="4715691"/>
            <a:ext cx="375818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fail-on-severity: moderate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4215384" y="4715691"/>
            <a:ext cx="751636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Échec si vulnérabilité au seuil ou supérieur.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57200" y="5466806"/>
            <a:ext cx="375818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deny-licenses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4215384" y="5466806"/>
            <a:ext cx="751636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de licences refusées selon la politique du cours.</a:t>
            </a:r>
            <a:endParaRPr lang="en-US" sz="103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Nuance 2026 : deny-licenses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36192"/>
            <a:ext cx="106984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299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`deny-licenses` est enseigné car il figure dans le déroulé, mais il ne faut pas le mémoriser comme vérité éternelle.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A"/>
                </a:solidFill>
              </a:rPr>
              <a:t>À retenir : la politique prime sur la syntaxe ; la syntaxe se vérifie dans la documentation actuelle.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Alternative pédagogique : stratégie allow-list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name: Dependency Review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uses: actions/dependency-review-action@v4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with: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fail-on-severity: moderate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allow-licenses: MIT, BSD-2-Clause, BSD-3-Clause, Apache-2.0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La vraie liste doit venir de la politique juridique interne.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L’outil applique une règle, il ne décide pas la règle.</a:t>
            </a:r>
            <a:endParaRPr lang="en-US" sz="121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fail-on-severity : comprendre le seuil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815394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Seuil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2272594" y="960120"/>
            <a:ext cx="4586258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Interprétation simple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858852" y="960120"/>
            <a:ext cx="4872900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gouvernance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815394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272594" y="2011680"/>
            <a:ext cx="458625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Bloquer seulement les alertes les plus graves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858852" y="2011680"/>
            <a:ext cx="48729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Acceptons-nous les high ?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1815394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2272594" y="3063240"/>
            <a:ext cx="4586258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Bloquer high et critical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858852" y="3063240"/>
            <a:ext cx="487290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faisons-nous des moderate ?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1815394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2272594" y="4114800"/>
            <a:ext cx="458625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Bloquer moderate, high, critical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858852" y="4114800"/>
            <a:ext cx="48729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bruit reste-t-il gérable ?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1815394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2272594" y="5166360"/>
            <a:ext cx="4586258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 très stricte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858852" y="5166360"/>
            <a:ext cx="487290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Avons-nous un processus d’exception ?</a:t>
            </a:r>
            <a:endParaRPr lang="en-US" sz="103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l’échec CI à la décision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123237" cy="475488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Check rouge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2123237" cy="112471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Signal observable dans la PR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2662733" y="2633472"/>
            <a:ext cx="73152" cy="0"/>
          </a:xfrm>
          <a:prstGeom prst="line">
            <a:avLst/>
          </a:prstGeom>
          <a:noFill/>
          <a:ln w="2159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772461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72461" y="1920240"/>
            <a:ext cx="2123237" cy="47548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Qualifier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72461" y="2496312"/>
            <a:ext cx="2123237" cy="11247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Licence ? vulnérabilité ? erreur workflow ?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4932274" y="2633472"/>
            <a:ext cx="73152" cy="0"/>
          </a:xfrm>
          <a:prstGeom prst="line">
            <a:avLst/>
          </a:prstGeom>
          <a:noFill/>
          <a:ln w="2159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42002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42002" y="1920240"/>
            <a:ext cx="2123237" cy="475488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Choisir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42002" y="2496312"/>
            <a:ext cx="2123237" cy="1124712"/>
          </a:xfrm>
          <a:prstGeom prst="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Retirer, remplacer, corriger ou demander exception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7201814" y="2633472"/>
            <a:ext cx="73152" cy="0"/>
          </a:xfrm>
          <a:prstGeom prst="line">
            <a:avLst/>
          </a:prstGeom>
          <a:noFill/>
          <a:ln w="2159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1542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1542" y="1920240"/>
            <a:ext cx="2123237" cy="47548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Documenter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1542" y="2496312"/>
            <a:ext cx="2123237" cy="11247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Raison + preuve + décision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9471355" y="2633472"/>
            <a:ext cx="73152" cy="0"/>
          </a:xfrm>
          <a:prstGeom prst="line">
            <a:avLst/>
          </a:prstGeom>
          <a:noFill/>
          <a:ln w="2159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81083" y="1554480"/>
            <a:ext cx="329184" cy="292608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81083" y="1920240"/>
            <a:ext cx="2123237" cy="47548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Rejouer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81083" y="2496312"/>
            <a:ext cx="2123237" cy="11247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Nouvelle preuve CI</a:t>
            </a:r>
            <a:endParaRPr lang="en-US" sz="117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 du check : action attendue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180980" cy="87630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Dependency Review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4638180" y="960120"/>
            <a:ext cx="7093572" cy="87630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457200" y="1836420"/>
            <a:ext cx="418098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nouvelle dépendance problématique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638180" y="1836420"/>
            <a:ext cx="709357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Continuer avec les autres checks.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57200" y="2712720"/>
            <a:ext cx="418098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Vulnérabilité au-dessus du seuil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638180" y="2712720"/>
            <a:ext cx="709357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Changer version/composant ou exception sécurité documentée.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3589020"/>
            <a:ext cx="418098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 interdite / non autorisée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638180" y="3589020"/>
            <a:ext cx="709357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Retirer, remplacer ou validation formelle.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4465320"/>
            <a:ext cx="418098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 inconnue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638180" y="4465320"/>
            <a:ext cx="709357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Bloquer la décision et obtenir l’information fiable.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5341620"/>
            <a:ext cx="418098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non exécuté / erreur technique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638180" y="5341620"/>
            <a:ext cx="709357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considérer la PR comme validée.</a:t>
            </a:r>
            <a:endParaRPr lang="en-US" sz="98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étude d’un workflow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Projeter le workflow et faire répondre à cinq questions.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Quand se déclenche-t-il ?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Quel seuil de vulnérabilité bloque la PR ?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Quelle politique de licence est appliquée ?</a:t>
            </a:r>
            <a:endParaRPr lang="en-US" sz="1930" dirty="0"/>
          </a:p>
          <a:p>
            <a:pPr marL="177800" indent="-177800">
              <a:buSzPct val="100000"/>
              <a:buChar char="•"/>
            </a:pPr>
            <a:r>
              <a:rPr lang="en-US" sz="1930" dirty="0">
                <a:solidFill>
                  <a:srgbClr val="152033"/>
                </a:solidFill>
              </a:rPr>
              <a:t>Qu’est-ce que le workflow ne prouve pas ?</a:t>
            </a:r>
            <a:endParaRPr lang="en-US" sz="193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à lire en atelier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name: Dependency Review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on: [pull_request]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permissions: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contents: read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jobs: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review: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runs-on: ubuntu-latest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steps: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- uses: actions/checkout@v4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- uses: actions/dependency-review-action@v4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with: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fail-on-severity: moderate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deny-licenses: GPL-3.0-only, AGPL-3.0-only</a:t>
            </a:r>
            <a:endParaRPr lang="en-US" sz="112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de l’atelier Dependency Review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Le workflow est déclenché par une pull request.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Une vulnérabilité moderate ou supérieure peut faire échouer le contrôle.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La politique présentée est une deny-list de deux identifiants SPDX.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Une licence absente de cette liste n’est pas automatiquement approuvée juridiquement.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52033"/>
                </a:solidFill>
              </a:rPr>
              <a:t>Pour une politique fermée, utiliser une allow-list approuvée.</a:t>
            </a:r>
            <a:endParaRPr lang="en-US" sz="182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Erreurs fréquentes avec les checks de PR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842324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3299524" y="960120"/>
            <a:ext cx="4073998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7373522" y="960120"/>
            <a:ext cx="4358230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Mieux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57200" y="1836420"/>
            <a:ext cx="284232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vert = dépendance bonne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299524" y="1836420"/>
            <a:ext cx="407399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juge pas l’architecture ni tout le juridique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7373522" y="1836420"/>
            <a:ext cx="435823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conformité, revue technique et validation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57200" y="2712720"/>
            <a:ext cx="284232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Copier une liste Internet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299524" y="2712720"/>
            <a:ext cx="407399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 non adaptée à l’entreprise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373522" y="2712720"/>
            <a:ext cx="435823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la liste officiellement validée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57200" y="3589020"/>
            <a:ext cx="284232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Baisser le seuil pour passer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299524" y="3589020"/>
            <a:ext cx="407399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Contourne la politique sécurité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7373522" y="3589020"/>
            <a:ext cx="435823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Processus d’exception documenté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57200" y="4465320"/>
            <a:ext cx="284232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Ignorer une erreur workflow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299524" y="4465320"/>
            <a:ext cx="4073998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Absence de preuve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373522" y="4465320"/>
            <a:ext cx="435823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Traiter comme contrôle non effectué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57200" y="5341620"/>
            <a:ext cx="284232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Laisser Copilot décider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299524" y="5341620"/>
            <a:ext cx="4073998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non autorité juridique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373522" y="5341620"/>
            <a:ext cx="435823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collecte ; organisation décide</a:t>
            </a:r>
            <a:endParaRPr lang="en-US" sz="8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Séquence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15:30–17:30 • Atelier final ROBOT-247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9443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</a:rPr>
              <a:t>Appliquer toute la chaîne : instructions, prompt, code, tests, PR, CI et revue.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Fil conducteur : transformer les règles d’équipe en preuves vérifiables avant merge.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Ticket pédagogique ROBOT-247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TICKET ROBOT-247 - Ajouter un motif explicite de refus de déplacement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Aujourd’hui, canStartMotion() renvoie un booléen ambigu.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 veut distinguer les motifs principaux de refus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batterie trop faible 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freins indisponibles 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capteur frontal indisponible 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erreur critique présente 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robot non Idle.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Contraintes : ne pas modifier la couche Safety et ne pas ajouter de dépendance.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Critères d’acceptation du ticket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52033"/>
                </a:solidFill>
              </a:rPr>
              <a:t>Le code compile avec la version C++ prévue.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52033"/>
                </a:solidFill>
              </a:rPr>
              <a:t>Le résultat distingue les motifs demandés.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52033"/>
                </a:solidFill>
              </a:rPr>
              <a:t>La règle batterie traite correctement la valeur frontière.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52033"/>
                </a:solidFill>
              </a:rPr>
              <a:t>Les règles safety restent dans les frontières prévues.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52033"/>
                </a:solidFill>
              </a:rPr>
              <a:t>Les tests couvrent succès et refus.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52033"/>
                </a:solidFill>
              </a:rPr>
              <a:t>Aucune dépendance externe n’est introduite.</a:t>
            </a:r>
            <a:endParaRPr lang="en-US" sz="1780" dirty="0"/>
          </a:p>
          <a:p>
            <a:pPr marL="177800" indent="-177800">
              <a:buSzPct val="100000"/>
              <a:buChar char="•"/>
            </a:pPr>
            <a:r>
              <a:rPr lang="en-US" sz="1780" dirty="0">
                <a:solidFill>
                  <a:srgbClr val="152033"/>
                </a:solidFill>
              </a:rPr>
              <a:t>La PR indique commandes locales exécutées et résultats.</a:t>
            </a:r>
            <a:endParaRPr lang="en-US" sz="178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Étape 1 : lire avant de prompter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36192"/>
            <a:ext cx="106984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participant commence par lire les instructions du dépôt.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A"/>
                </a:solidFill>
              </a:rPr>
              <a:t>Le réflexe à éviter : demander du code immédiatement sans comprendre contraintes et frontières.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 travail cadré pour ROBOT-247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Context: pallet robot C++ project. Follow repository instructions.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Task: ROBOT-247. Replace the ambiguous boolean motion eligibility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with an explicit result that distinguishes refusal reasons.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Scope: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Work only in the mission/navigation boundary.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Do not modify the Safety layer.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Do not add external dependencies.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Acceptance: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C++17 compatible.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Include tests for success and each refusal reason.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Include the battery boundary case at the minimum value.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List commands to run before PR.</a:t>
            </a:r>
            <a:endParaRPr lang="en-US" sz="107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Revoir la proposition avant de l’appliquer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946093" cy="751114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revue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4403293" y="960120"/>
            <a:ext cx="7328459" cy="751114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attendue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457200" y="1711234"/>
            <a:ext cx="394609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contrat est-il plus explicite ?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403293" y="1711234"/>
            <a:ext cx="732845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 si le résultat porte un motif nommé.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57200" y="2462349"/>
            <a:ext cx="394609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couche est-elle contournée ?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403293" y="2462349"/>
            <a:ext cx="732845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: les frontières du projet sont respectées.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3213463"/>
            <a:ext cx="394609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dépendance est-elle ajoutée ?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403293" y="3213463"/>
            <a:ext cx="732845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pour ce ticket.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7200" y="3964577"/>
            <a:ext cx="394609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frontière batterie est-elle claire ?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403293" y="3964577"/>
            <a:ext cx="732845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à 20 et juste en dessous.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7200" y="4715691"/>
            <a:ext cx="394609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tests prouvent-ils tous les refus ?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403293" y="4715691"/>
            <a:ext cx="732845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motif demandé a un cas négatif.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7200" y="5466806"/>
            <a:ext cx="394609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L’IA a-t-elle inventé une exigence ?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403293" y="5466806"/>
            <a:ext cx="732845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Toute hypothèse doit être signalée.</a:t>
            </a:r>
            <a:endParaRPr lang="en-US" sz="98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cible : résultat explicite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#pragma once</a:t>
            </a:r>
            <a:endParaRPr lang="en-US" sz="1380" dirty="0"/>
          </a:p>
          <a:p>
            <a:pPr indent="0" marL="0">
              <a:buNone/>
            </a:pP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enum class MotionRefusal {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None,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BatteryTooLow,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BrakesUnavailable,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FrontSensorUnavailable,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CriticalErrorPresent,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NotIdle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};</a:t>
            </a:r>
            <a:endParaRPr lang="en-US" sz="1380" dirty="0"/>
          </a:p>
          <a:p>
            <a:pPr indent="0" marL="0">
              <a:buNone/>
            </a:pP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struct MotionDecision {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bool canStart;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MotionRefusal reason;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};</a:t>
            </a:r>
            <a:endParaRPr lang="en-US" sz="138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cible : règle métier isolée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#pragma once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#include "motion_decision.hpp"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class MotionEligibility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public: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MotionDecision evaluate(int batteryPercent,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                bool brakesAvailable,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                bool frontSensorAvailable,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                bool criticalError,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                bool idle) const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(batteryPercent &lt; 20) return {false, MotionRefusal::BatteryTooLow};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(!brakesAvailable) return {false, MotionRefusal::BrakesUnavailable};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(!frontSensorAvailable) return {false, MotionRefusal::FrontSensorUnavailable};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(criticalError) return {false, MotionRefusal::CriticalErrorPresent};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if (!idle) return {false, MotionRefusal::NotIdle};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{true, MotionRefusal::None};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};</a:t>
            </a:r>
            <a:endParaRPr lang="en-US" sz="96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autonomes à montrer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#include &lt;cassert&gt;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#include &lt;iostream&gt;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#include "motion_eligibility.hpp"</a:t>
            </a:r>
            <a:endParaRPr lang="en-US" sz="855" dirty="0"/>
          </a:p>
          <a:p>
            <a:pPr indent="0" marL="0">
              <a:buNone/>
            </a:pP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 main() {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MotionEligibility eligibility;</a:t>
            </a:r>
            <a:endParaRPr lang="en-US" sz="855" dirty="0"/>
          </a:p>
          <a:p>
            <a:pPr indent="0" marL="0">
              <a:buNone/>
            </a:pP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assert(eligibility.evaluate(20, true, true, false, true).canStart);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assert(eligibility.evaluate(19, true, true, false, true).reason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== MotionRefusal::BatteryTooLow);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assert(eligibility.evaluate(80, false, true, false, true).reason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== MotionRefusal::BrakesUnavailable);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assert(eligibility.evaluate(80, true, false, false, true).reason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== MotionRefusal::FrontSensorUnavailable);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assert(eligibility.evaluate(80, true, true, true, true).reason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== MotionRefusal::CriticalErrorPresent);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assert(eligibility.evaluate(80, true, true, false, false).reason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== MotionRefusal::NotIdle);</a:t>
            </a:r>
            <a:endParaRPr lang="en-US" sz="855" dirty="0"/>
          </a:p>
          <a:p>
            <a:pPr indent="0" marL="0">
              <a:buNone/>
            </a:pP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std::cout &lt;&lt; "All ROBOT-247 checks passed.\n";</a:t>
            </a:r>
            <a:endParaRPr lang="en-US" sz="855" dirty="0"/>
          </a:p>
          <a:p>
            <a:pPr indent="0" marL="0">
              <a:buNone/>
            </a:pPr>
            <a:r>
              <a:rPr lang="en-US" sz="855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85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Contrôles locaux : preuve à conserver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879092" cy="131445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36292" y="960120"/>
            <a:ext cx="4979594" cy="131445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à conserver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886" y="960120"/>
            <a:ext cx="4415866" cy="131445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si échec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74570"/>
            <a:ext cx="187909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6292" y="2274570"/>
            <a:ext cx="4979594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 + code retour / sortie sans erreur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886" y="2274570"/>
            <a:ext cx="4415866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Corriger code ou configuration.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589020"/>
            <a:ext cx="1879092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6292" y="3589020"/>
            <a:ext cx="4979594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ou sortie des tests exécutés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886" y="3589020"/>
            <a:ext cx="4415866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Corriger comportement ou test après analyse.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903470"/>
            <a:ext cx="187909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6292" y="4903470"/>
            <a:ext cx="4979594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nouvelle dépendance ou scan conforme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886" y="4903470"/>
            <a:ext cx="4415866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Retirer, remplacer ou déclencher validation.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Description de PR attendue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## ROBOT-247 - explicit motion refusal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### What changed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Replaced ambiguous boolean result with explicit refusal reasons.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Added tests for success, battery boundary and each refusal case.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### Local validation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Build: passed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Tests: passed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License scan: no new external dependency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### Risks / review focus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Confirm refusal reason names match supervision expectations.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Confirm battery boundary rule: 20 is accepted, 19 is refused.</a:t>
            </a:r>
            <a:endParaRPr lang="en-US" sz="114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Variante d’incident : dépendance proposée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49240" cy="39319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C62828"/>
                </a:solidFill>
              </a:rPr>
              <a:t>Événement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7512" y="1563624"/>
            <a:ext cx="5202936" cy="4471416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Copilot propose d’ajouter magic-json-helper pour sérialiser le résultat.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La bibliothèque est annoncée “open source”.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Aucun identifiant SPDX fiable n’est fourni.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Le ticket n’exige pas de sérialisation.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45352" y="1051560"/>
            <a:ext cx="5349240" cy="39319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2E7D32"/>
                </a:solidFill>
              </a:rPr>
              <a:t>Réponse attendue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18504" y="1563624"/>
            <a:ext cx="5202936" cy="4471416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Ne pas ajouter la dépendance.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Identifier le besoin réel.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Chercher une solution déjà présente.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52033"/>
                </a:solidFill>
              </a:rPr>
              <a:t>Déclencher une proposition de dépendance seulement si nécessaire.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Revue IA puis revue humaine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974563" cy="105156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 IA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3431763" y="960120"/>
            <a:ext cx="4605774" cy="105156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humaine</a:t>
            </a:r>
            <a:endParaRPr lang="en-US" sz="890" dirty="0"/>
          </a:p>
        </p:txBody>
      </p:sp>
      <p:sp>
        <p:nvSpPr>
          <p:cNvPr id="8" name="Text 6"/>
          <p:cNvSpPr/>
          <p:nvPr/>
        </p:nvSpPr>
        <p:spPr>
          <a:xfrm>
            <a:off x="8037537" y="960120"/>
            <a:ext cx="3694215" cy="105156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possible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974563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Fusionner deux motifs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3431763" y="2011680"/>
            <a:ext cx="4605774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ticket demande-t-il des motifs distincts ?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8037537" y="2011680"/>
            <a:ext cx="369421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 si perte d’information métier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974563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Passer batterie à &gt; 20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3431763" y="3063240"/>
            <a:ext cx="4605774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comportement à 20 est-il défini ?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8037537" y="3063240"/>
            <a:ext cx="369421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 si le test prouve &gt;= 20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2974563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une bibliothèque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3431763" y="4114800"/>
            <a:ext cx="4605774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Licence, coût, nécessité ?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8037537" y="4114800"/>
            <a:ext cx="369421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 ou processus dépendance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2974563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test critical error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3431763" y="5166360"/>
            <a:ext cx="4605774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dans critères ?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8037537" y="5166360"/>
            <a:ext cx="369421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Accepter : meilleure preuve</a:t>
            </a:r>
            <a:endParaRPr lang="en-US" sz="89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Grille d’évaluation de l’atelier final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894883" cy="751114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</a:t>
            </a:r>
            <a:endParaRPr lang="en-US" sz="865" dirty="0"/>
          </a:p>
        </p:txBody>
      </p:sp>
      <p:sp>
        <p:nvSpPr>
          <p:cNvPr id="7" name="Text 5"/>
          <p:cNvSpPr/>
          <p:nvPr/>
        </p:nvSpPr>
        <p:spPr>
          <a:xfrm>
            <a:off x="2352083" y="960120"/>
            <a:ext cx="4263486" cy="751114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Insuffisant</a:t>
            </a:r>
            <a:endParaRPr lang="en-US" sz="865" dirty="0"/>
          </a:p>
        </p:txBody>
      </p:sp>
      <p:sp>
        <p:nvSpPr>
          <p:cNvPr id="8" name="Text 6"/>
          <p:cNvSpPr/>
          <p:nvPr/>
        </p:nvSpPr>
        <p:spPr>
          <a:xfrm>
            <a:off x="6615569" y="960120"/>
            <a:ext cx="5116183" cy="751114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</a:t>
            </a:r>
            <a:endParaRPr lang="en-US" sz="865" dirty="0"/>
          </a:p>
        </p:txBody>
      </p:sp>
      <p:sp>
        <p:nvSpPr>
          <p:cNvPr id="9" name="Text 7"/>
          <p:cNvSpPr/>
          <p:nvPr/>
        </p:nvSpPr>
        <p:spPr>
          <a:xfrm>
            <a:off x="457200" y="1711234"/>
            <a:ext cx="189488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Cadrage</a:t>
            </a:r>
            <a:endParaRPr lang="en-US" sz="865" dirty="0"/>
          </a:p>
        </p:txBody>
      </p:sp>
      <p:sp>
        <p:nvSpPr>
          <p:cNvPr id="10" name="Text 8"/>
          <p:cNvSpPr/>
          <p:nvPr/>
        </p:nvSpPr>
        <p:spPr>
          <a:xfrm>
            <a:off x="2352083" y="1711234"/>
            <a:ext cx="4263486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vague ou hors contraintes</a:t>
            </a:r>
            <a:endParaRPr lang="en-US" sz="865" dirty="0"/>
          </a:p>
        </p:txBody>
      </p:sp>
      <p:sp>
        <p:nvSpPr>
          <p:cNvPr id="11" name="Text 9"/>
          <p:cNvSpPr/>
          <p:nvPr/>
        </p:nvSpPr>
        <p:spPr>
          <a:xfrm>
            <a:off x="6615569" y="1711234"/>
            <a:ext cx="511618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précis, contraintes et preuves demandées</a:t>
            </a:r>
            <a:endParaRPr lang="en-US" sz="865" dirty="0"/>
          </a:p>
        </p:txBody>
      </p:sp>
      <p:sp>
        <p:nvSpPr>
          <p:cNvPr id="12" name="Text 10"/>
          <p:cNvSpPr/>
          <p:nvPr/>
        </p:nvSpPr>
        <p:spPr>
          <a:xfrm>
            <a:off x="457200" y="2462349"/>
            <a:ext cx="189488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65" dirty="0"/>
          </a:p>
        </p:txBody>
      </p:sp>
      <p:sp>
        <p:nvSpPr>
          <p:cNvPr id="13" name="Text 11"/>
          <p:cNvSpPr/>
          <p:nvPr/>
        </p:nvSpPr>
        <p:spPr>
          <a:xfrm>
            <a:off x="2352083" y="2462349"/>
            <a:ext cx="4263486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Frontière contournée</a:t>
            </a:r>
            <a:endParaRPr lang="en-US" sz="865" dirty="0"/>
          </a:p>
        </p:txBody>
      </p:sp>
      <p:sp>
        <p:nvSpPr>
          <p:cNvPr id="14" name="Text 12"/>
          <p:cNvSpPr/>
          <p:nvPr/>
        </p:nvSpPr>
        <p:spPr>
          <a:xfrm>
            <a:off x="6615569" y="2462349"/>
            <a:ext cx="511618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Frontières respectées et impacts identifiés</a:t>
            </a:r>
            <a:endParaRPr lang="en-US" sz="865" dirty="0"/>
          </a:p>
        </p:txBody>
      </p:sp>
      <p:sp>
        <p:nvSpPr>
          <p:cNvPr id="15" name="Text 13"/>
          <p:cNvSpPr/>
          <p:nvPr/>
        </p:nvSpPr>
        <p:spPr>
          <a:xfrm>
            <a:off x="457200" y="3213463"/>
            <a:ext cx="189488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C++</a:t>
            </a:r>
            <a:endParaRPr lang="en-US" sz="865" dirty="0"/>
          </a:p>
        </p:txBody>
      </p:sp>
      <p:sp>
        <p:nvSpPr>
          <p:cNvPr id="16" name="Text 14"/>
          <p:cNvSpPr/>
          <p:nvPr/>
        </p:nvSpPr>
        <p:spPr>
          <a:xfrm>
            <a:off x="2352083" y="3213463"/>
            <a:ext cx="4263486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compile pas / contrat ambigu</a:t>
            </a:r>
            <a:endParaRPr lang="en-US" sz="865" dirty="0"/>
          </a:p>
        </p:txBody>
      </p:sp>
      <p:sp>
        <p:nvSpPr>
          <p:cNvPr id="17" name="Text 15"/>
          <p:cNvSpPr/>
          <p:nvPr/>
        </p:nvSpPr>
        <p:spPr>
          <a:xfrm>
            <a:off x="6615569" y="3213463"/>
            <a:ext cx="511618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explicite et cohérent</a:t>
            </a:r>
            <a:endParaRPr lang="en-US" sz="865" dirty="0"/>
          </a:p>
        </p:txBody>
      </p:sp>
      <p:sp>
        <p:nvSpPr>
          <p:cNvPr id="18" name="Text 16"/>
          <p:cNvSpPr/>
          <p:nvPr/>
        </p:nvSpPr>
        <p:spPr>
          <a:xfrm>
            <a:off x="457200" y="3964577"/>
            <a:ext cx="189488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865" dirty="0"/>
          </a:p>
        </p:txBody>
      </p:sp>
      <p:sp>
        <p:nvSpPr>
          <p:cNvPr id="19" name="Text 17"/>
          <p:cNvSpPr/>
          <p:nvPr/>
        </p:nvSpPr>
        <p:spPr>
          <a:xfrm>
            <a:off x="2352083" y="3964577"/>
            <a:ext cx="4263486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Absents ou nominaux seuls</a:t>
            </a:r>
            <a:endParaRPr lang="en-US" sz="865" dirty="0"/>
          </a:p>
        </p:txBody>
      </p:sp>
      <p:sp>
        <p:nvSpPr>
          <p:cNvPr id="20" name="Text 18"/>
          <p:cNvSpPr/>
          <p:nvPr/>
        </p:nvSpPr>
        <p:spPr>
          <a:xfrm>
            <a:off x="6615569" y="3964577"/>
            <a:ext cx="511618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Frontières + refus couverts</a:t>
            </a:r>
            <a:endParaRPr lang="en-US" sz="865" dirty="0"/>
          </a:p>
        </p:txBody>
      </p:sp>
      <p:sp>
        <p:nvSpPr>
          <p:cNvPr id="21" name="Text 19"/>
          <p:cNvSpPr/>
          <p:nvPr/>
        </p:nvSpPr>
        <p:spPr>
          <a:xfrm>
            <a:off x="457200" y="4715691"/>
            <a:ext cx="189488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Dépendances</a:t>
            </a:r>
            <a:endParaRPr lang="en-US" sz="865" dirty="0"/>
          </a:p>
        </p:txBody>
      </p:sp>
      <p:sp>
        <p:nvSpPr>
          <p:cNvPr id="22" name="Text 20"/>
          <p:cNvSpPr/>
          <p:nvPr/>
        </p:nvSpPr>
        <p:spPr>
          <a:xfrm>
            <a:off x="2352083" y="4715691"/>
            <a:ext cx="4263486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 non validé</a:t>
            </a:r>
            <a:endParaRPr lang="en-US" sz="865" dirty="0"/>
          </a:p>
        </p:txBody>
      </p:sp>
      <p:sp>
        <p:nvSpPr>
          <p:cNvPr id="23" name="Text 21"/>
          <p:cNvSpPr/>
          <p:nvPr/>
        </p:nvSpPr>
        <p:spPr>
          <a:xfrm>
            <a:off x="6615569" y="4715691"/>
            <a:ext cx="511618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 appliquée et preuve conservée</a:t>
            </a:r>
            <a:endParaRPr lang="en-US" sz="865" dirty="0"/>
          </a:p>
        </p:txBody>
      </p:sp>
      <p:sp>
        <p:nvSpPr>
          <p:cNvPr id="24" name="Text 22"/>
          <p:cNvSpPr/>
          <p:nvPr/>
        </p:nvSpPr>
        <p:spPr>
          <a:xfrm>
            <a:off x="457200" y="5466806"/>
            <a:ext cx="189488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</a:t>
            </a:r>
            <a:endParaRPr lang="en-US" sz="865" dirty="0"/>
          </a:p>
        </p:txBody>
      </p:sp>
      <p:sp>
        <p:nvSpPr>
          <p:cNvPr id="25" name="Text 23"/>
          <p:cNvSpPr/>
          <p:nvPr/>
        </p:nvSpPr>
        <p:spPr>
          <a:xfrm>
            <a:off x="2352083" y="5466806"/>
            <a:ext cx="4263486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 vague</a:t>
            </a:r>
            <a:endParaRPr lang="en-US" sz="865" dirty="0"/>
          </a:p>
        </p:txBody>
      </p:sp>
      <p:sp>
        <p:nvSpPr>
          <p:cNvPr id="26" name="Text 24"/>
          <p:cNvSpPr/>
          <p:nvPr/>
        </p:nvSpPr>
        <p:spPr>
          <a:xfrm>
            <a:off x="6615569" y="5466806"/>
            <a:ext cx="511618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65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Impacts, preuves, risques et focus de revue</a:t>
            </a:r>
            <a:endParaRPr lang="en-US" sz="86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 complet J3 : guidance → preuve → décision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744980" cy="475488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Instructions dépôt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1744980" cy="112471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Contexte durable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2284476" y="2587752"/>
            <a:ext cx="73152" cy="0"/>
          </a:xfrm>
          <a:prstGeom prst="line">
            <a:avLst/>
          </a:prstGeom>
          <a:noFill/>
          <a:ln w="2159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394204" y="150876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94204" y="1874520"/>
            <a:ext cx="1744980" cy="47548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Prompt cadré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394204" y="2450592"/>
            <a:ext cx="1744980" cy="11247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Ticket + contraintes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4175760" y="2587752"/>
            <a:ext cx="73152" cy="0"/>
          </a:xfrm>
          <a:prstGeom prst="line">
            <a:avLst/>
          </a:prstGeom>
          <a:noFill/>
          <a:ln w="2159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285488" y="150876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85488" y="1874520"/>
            <a:ext cx="1744980" cy="475488"/>
          </a:xfrm>
          <a:prstGeom prst="rect">
            <a:avLst/>
          </a:prstGeom>
          <a:solidFill>
            <a:srgbClr val="E8FAFA"/>
          </a:solidFill>
          <a:ln>
            <a:solidFill>
              <a:srgbClr val="E8FA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Proposition IA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85488" y="2450592"/>
            <a:ext cx="1744980" cy="1124712"/>
          </a:xfrm>
          <a:prstGeom prst="rect">
            <a:avLst/>
          </a:prstGeom>
          <a:solidFill>
            <a:srgbClr val="E8FAFA"/>
          </a:solidFill>
          <a:ln>
            <a:solidFill>
              <a:srgbClr val="E8FA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Brouillon à examiner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6067044" y="2587752"/>
            <a:ext cx="73152" cy="0"/>
          </a:xfrm>
          <a:prstGeom prst="line">
            <a:avLst/>
          </a:prstGeom>
          <a:noFill/>
          <a:ln w="2159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176772" y="150876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6772" y="1874520"/>
            <a:ext cx="1744980" cy="475488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Build + tests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76772" y="2450592"/>
            <a:ext cx="1744980" cy="11247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Vérification locale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7958328" y="2587752"/>
            <a:ext cx="73152" cy="0"/>
          </a:xfrm>
          <a:prstGeom prst="line">
            <a:avLst/>
          </a:prstGeom>
          <a:noFill/>
          <a:ln w="2159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068056" y="150876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68056" y="1874520"/>
            <a:ext cx="1744980" cy="475488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PR + CI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68056" y="2450592"/>
            <a:ext cx="1744980" cy="11247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Contrôle partagé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9849612" y="2587752"/>
            <a:ext cx="73152" cy="0"/>
          </a:xfrm>
          <a:prstGeom prst="line">
            <a:avLst/>
          </a:prstGeom>
          <a:noFill/>
          <a:ln w="21590">
            <a:solidFill>
              <a:srgbClr val="7B61FF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959340" y="1508760"/>
            <a:ext cx="329184" cy="292608"/>
          </a:xfrm>
          <a:prstGeom prst="rect">
            <a:avLst/>
          </a:prstGeom>
          <a:solidFill>
            <a:srgbClr val="7B61FF"/>
          </a:solidFill>
          <a:ln>
            <a:solidFill>
              <a:srgbClr val="7B61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59340" y="1874520"/>
            <a:ext cx="1744980" cy="475488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2033"/>
                </a:solidFill>
              </a:rPr>
              <a:t>Revue humaine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959340" y="2450592"/>
            <a:ext cx="1744980" cy="112471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B677A"/>
                </a:solidFill>
              </a:rPr>
              <a:t>Décision finale</a:t>
            </a:r>
            <a:endParaRPr lang="en-US" sz="117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Démonstration : mini-dépôt J3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j3-demo/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├── .github/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 copilot-instructions.md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 instructions/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│   └── cpp.instructions.md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└── workflows/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    └── dependency-review.yml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├── .vscode/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 settings.json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└── tasks.json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├── include/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├── motion_decision.hpp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│   └── motion_eligibility.hpp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└── main.cpp</a:t>
            </a:r>
            <a:endParaRPr lang="en-US" sz="156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Compilation directe et résultat attendu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05840"/>
            <a:ext cx="11109960" cy="5230368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g++ -std=c++17 -Wall -Wextra -pedantic -Iinclude main.cpp -o j3_demo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./j3_demo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Résultat attendu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All ROBOT-247 checks passed.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Objectif pédagogique 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le code compile sans dépendance externe 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les tests sont autonomes 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 la preuve précède la PR.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pré-PR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069848"/>
            <a:ext cx="10744200" cy="4956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70" dirty="0">
                <a:solidFill>
                  <a:srgbClr val="152033"/>
                </a:solidFill>
              </a:rPr>
              <a:t>Ticket et critères d’acceptation relus.</a:t>
            </a:r>
            <a:endParaRPr lang="en-US" sz="1770" dirty="0"/>
          </a:p>
          <a:p>
            <a:pPr marL="177800" indent="-177800">
              <a:buSzPct val="100000"/>
              <a:buChar char="•"/>
            </a:pPr>
            <a:r>
              <a:rPr lang="en-US" sz="1770" dirty="0">
                <a:solidFill>
                  <a:srgbClr val="152033"/>
                </a:solidFill>
              </a:rPr>
              <a:t>Instructions du dépôt prises en compte.</a:t>
            </a:r>
            <a:endParaRPr lang="en-US" sz="1770" dirty="0"/>
          </a:p>
          <a:p>
            <a:pPr marL="177800" indent="-177800">
              <a:buSzPct val="100000"/>
              <a:buChar char="•"/>
            </a:pPr>
            <a:r>
              <a:rPr lang="en-US" sz="1770" dirty="0">
                <a:solidFill>
                  <a:srgbClr val="152033"/>
                </a:solidFill>
              </a:rPr>
              <a:t>Changement strictement dans le périmètre demandé.</a:t>
            </a:r>
            <a:endParaRPr lang="en-US" sz="1770" dirty="0"/>
          </a:p>
          <a:p>
            <a:pPr marL="177800" indent="-177800">
              <a:buSzPct val="100000"/>
              <a:buChar char="•"/>
            </a:pPr>
            <a:r>
              <a:rPr lang="en-US" sz="1770" dirty="0">
                <a:solidFill>
                  <a:srgbClr val="152033"/>
                </a:solidFill>
              </a:rPr>
              <a:t>Build local réellement exécuté.</a:t>
            </a:r>
            <a:endParaRPr lang="en-US" sz="1770" dirty="0"/>
          </a:p>
          <a:p>
            <a:pPr marL="177800" indent="-177800">
              <a:buSzPct val="100000"/>
              <a:buChar char="•"/>
            </a:pPr>
            <a:r>
              <a:rPr lang="en-US" sz="1770" dirty="0">
                <a:solidFill>
                  <a:srgbClr val="152033"/>
                </a:solidFill>
              </a:rPr>
              <a:t>Tests pertinents réellement exécutés.</a:t>
            </a:r>
            <a:endParaRPr lang="en-US" sz="1770" dirty="0"/>
          </a:p>
          <a:p>
            <a:pPr marL="177800" indent="-177800">
              <a:buSzPct val="100000"/>
              <a:buChar char="•"/>
            </a:pPr>
            <a:r>
              <a:rPr lang="en-US" sz="1770" dirty="0">
                <a:solidFill>
                  <a:srgbClr val="152033"/>
                </a:solidFill>
              </a:rPr>
              <a:t>Aucune dépendance ajoutée sans validation.</a:t>
            </a:r>
            <a:endParaRPr lang="en-US" sz="1770" dirty="0"/>
          </a:p>
          <a:p>
            <a:pPr marL="177800" indent="-177800">
              <a:buSzPct val="100000"/>
              <a:buChar char="•"/>
            </a:pPr>
            <a:r>
              <a:rPr lang="en-US" sz="1770" dirty="0">
                <a:solidFill>
                  <a:srgbClr val="152033"/>
                </a:solidFill>
              </a:rPr>
              <a:t>PR avec impacts, preuves et risques connus.</a:t>
            </a:r>
            <a:endParaRPr lang="en-US" sz="177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de relance formateur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981302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2438502" y="960120"/>
            <a:ext cx="4717386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7155888" y="960120"/>
            <a:ext cx="4575864" cy="8763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57200" y="1836420"/>
            <a:ext cx="198130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2438502" y="1836420"/>
            <a:ext cx="471738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Cette règle doit-elle être dans le prompt ou dans le dépôt ?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155888" y="1836420"/>
            <a:ext cx="457586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Distinguer durable et ponctuel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457200" y="2712720"/>
            <a:ext cx="198130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2438502" y="2712720"/>
            <a:ext cx="471738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Cette task appelle-t-elle la vraie commande ?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7155888" y="2712720"/>
            <a:ext cx="457586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la duplication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57200" y="3589020"/>
            <a:ext cx="198130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Licences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2438502" y="3589020"/>
            <a:ext cx="471738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SPDX autorise-t-il l’usage ?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7155888" y="3589020"/>
            <a:ext cx="457586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 ≠ autoriser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57200" y="4465320"/>
            <a:ext cx="1981302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Review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2438502" y="4465320"/>
            <a:ext cx="471738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check vert suffit-il ?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155888" y="4465320"/>
            <a:ext cx="457586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Automatisation ≠ gouvernance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57200" y="5341620"/>
            <a:ext cx="1981302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Atelier final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2438502" y="5341620"/>
            <a:ext cx="471738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 décision reste humaine ?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7155888" y="5341620"/>
            <a:ext cx="457586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Réaffirmer la responsabilité</a:t>
            </a:r>
            <a:endParaRPr lang="en-US" sz="93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Erreurs fréquentes de J3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168742" cy="751114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4625942" y="960120"/>
            <a:ext cx="7105810" cy="751114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à enseigner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457200" y="1711234"/>
            <a:ext cx="416874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Tout mettre dans un prompt énorme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4625942" y="1711234"/>
            <a:ext cx="710581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Mettre le durable dans les instructions, garder le ticket dans le prompt.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457200" y="2462349"/>
            <a:ext cx="416874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Croire que Copilot respecte toujours les instructions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4625942" y="2462349"/>
            <a:ext cx="710581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seulement ; vérifier avec outils et revue.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457200" y="3213463"/>
            <a:ext cx="416874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Versionner des préférences personnelles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4625942" y="3213463"/>
            <a:ext cx="710581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versionner que ce qui sert le projet.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457200" y="3964577"/>
            <a:ext cx="416874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Dupliquer build dans tasks.json et CI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4625942" y="3964577"/>
            <a:ext cx="710581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Appeler les scripts canoniques.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457200" y="4715691"/>
            <a:ext cx="416874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Considérer SPDX comme autorisation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4625942" y="4715691"/>
            <a:ext cx="710581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SPDX identifie ; la politique décide.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457200" y="5466806"/>
            <a:ext cx="416874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Contourner un check CI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4625942" y="5466806"/>
            <a:ext cx="710581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le processus d’exception gouverné.</a:t>
            </a:r>
            <a:endParaRPr lang="en-US" sz="94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Auto-évaluation de fin de J3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674275" cy="5842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suis capable de...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131475" y="960120"/>
            <a:ext cx="1800139" cy="5842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931613" y="960120"/>
            <a:ext cx="1800139" cy="58420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revoir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57200" y="1544320"/>
            <a:ext cx="7674275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instruction dépôt vs prompt ponctuel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131475" y="1544320"/>
            <a:ext cx="1800139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931613" y="1544320"/>
            <a:ext cx="1800139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57200" y="2128520"/>
            <a:ext cx="7674275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un canevas copilot-instructions.md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131475" y="2128520"/>
            <a:ext cx="1800139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931613" y="2128520"/>
            <a:ext cx="1800139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57200" y="2712720"/>
            <a:ext cx="7674275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Décrire le rôle d’une instruction ciblée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131475" y="2712720"/>
            <a:ext cx="1800139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931613" y="2712720"/>
            <a:ext cx="1800139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57200" y="3296920"/>
            <a:ext cx="7674275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.vscode/tasks.json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131475" y="3296920"/>
            <a:ext cx="1800139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931613" y="3296920"/>
            <a:ext cx="1800139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57200" y="3881120"/>
            <a:ext cx="7674275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Organiser build -&gt; tests -&gt; licence avant PR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131475" y="3881120"/>
            <a:ext cx="1800139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931613" y="3881120"/>
            <a:ext cx="1800139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57200" y="4465320"/>
            <a:ext cx="7674275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Différencier permissive, copyleft, faible copyleft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131475" y="4465320"/>
            <a:ext cx="1800139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931613" y="4465320"/>
            <a:ext cx="1800139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57200" y="5049520"/>
            <a:ext cx="7674275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l’utilité d’un identifiant SPDX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131475" y="5049520"/>
            <a:ext cx="1800139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931613" y="5049520"/>
            <a:ext cx="1800139" cy="584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57200" y="5633720"/>
            <a:ext cx="7674275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un workflow Dependency Review simple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131475" y="5633720"/>
            <a:ext cx="1800139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9931613" y="5633720"/>
            <a:ext cx="1800139" cy="5842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J3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J3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536192"/>
            <a:ext cx="106984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IA bien cadrée produit des propositions ; un environnement contrôlé produit des preuves.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A"/>
                </a:solidFill>
              </a:rPr>
              <a:t>Le développeur reste responsable : il cadre, vérifie, documente et décide avec l’équipe.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J3 - Copilot, VS Code, licences, CI et mise en pratique complète</dc:title>
  <dc:subject>Support de cours J3 - IA, Copilot et C++ industriel</dc:subject>
  <dc:creator>OpenAI</dc:creator>
  <cp:lastModifiedBy>OpenAI</cp:lastModifiedBy>
  <cp:revision>1</cp:revision>
  <dcterms:created xsi:type="dcterms:W3CDTF">2026-09-13T18:26:51Z</dcterms:created>
  <dcterms:modified xsi:type="dcterms:W3CDTF">2026-09-13T18:26:51Z</dcterms:modified>
</cp:coreProperties>
</file>